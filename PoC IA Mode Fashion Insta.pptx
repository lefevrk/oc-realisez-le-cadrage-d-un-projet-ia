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10287000" cx="18288000"/>
  <p:notesSz cx="10287000" cy="18288000"/>
  <p:embeddedFontLst>
    <p:embeddedFont>
      <p:font typeface="IBM Plex Sans"/>
      <p:regular r:id="rId29"/>
      <p:bold r:id="rId30"/>
      <p:italic r:id="rId31"/>
      <p:boldItalic r:id="rId32"/>
    </p:embeddedFont>
    <p:embeddedFont>
      <p:font typeface="IBM Plex Mono"/>
      <p:regular r:id="rId33"/>
      <p:bold r:id="rId34"/>
      <p:italic r:id="rId35"/>
      <p:boldItalic r:id="rId36"/>
    </p:embeddedFont>
    <p:embeddedFont>
      <p:font typeface="Archiv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BMPlex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BMPlexSans-italic.fntdata"/><Relationship Id="rId30" Type="http://schemas.openxmlformats.org/officeDocument/2006/relationships/font" Target="fonts/IBMPlexSans-bold.fntdata"/><Relationship Id="rId11" Type="http://schemas.openxmlformats.org/officeDocument/2006/relationships/slide" Target="slides/slide7.xml"/><Relationship Id="rId33" Type="http://schemas.openxmlformats.org/officeDocument/2006/relationships/font" Target="fonts/IBMPlexMono-regular.fntdata"/><Relationship Id="rId10" Type="http://schemas.openxmlformats.org/officeDocument/2006/relationships/slide" Target="slides/slide6.xml"/><Relationship Id="rId32" Type="http://schemas.openxmlformats.org/officeDocument/2006/relationships/font" Target="fonts/IBMPlexSans-boldItalic.fntdata"/><Relationship Id="rId13" Type="http://schemas.openxmlformats.org/officeDocument/2006/relationships/slide" Target="slides/slide9.xml"/><Relationship Id="rId35" Type="http://schemas.openxmlformats.org/officeDocument/2006/relationships/font" Target="fonts/IBMPlexMono-italic.fntdata"/><Relationship Id="rId12" Type="http://schemas.openxmlformats.org/officeDocument/2006/relationships/slide" Target="slides/slide8.xml"/><Relationship Id="rId34" Type="http://schemas.openxmlformats.org/officeDocument/2006/relationships/font" Target="fonts/IBMPlexMono-bold.fntdata"/><Relationship Id="rId15" Type="http://schemas.openxmlformats.org/officeDocument/2006/relationships/slide" Target="slides/slide11.xml"/><Relationship Id="rId37" Type="http://schemas.openxmlformats.org/officeDocument/2006/relationships/font" Target="fonts/Archivo-regular.fntdata"/><Relationship Id="rId14" Type="http://schemas.openxmlformats.org/officeDocument/2006/relationships/slide" Target="slides/slide10.xml"/><Relationship Id="rId36" Type="http://schemas.openxmlformats.org/officeDocument/2006/relationships/font" Target="fonts/IBMPlexMono-boldItalic.fntdata"/><Relationship Id="rId17" Type="http://schemas.openxmlformats.org/officeDocument/2006/relationships/slide" Target="slides/slide13.xml"/><Relationship Id="rId39" Type="http://schemas.openxmlformats.org/officeDocument/2006/relationships/font" Target="fonts/Archivo-italic.fntdata"/><Relationship Id="rId16" Type="http://schemas.openxmlformats.org/officeDocument/2006/relationships/slide" Target="slides/slide12.xml"/><Relationship Id="rId38" Type="http://schemas.openxmlformats.org/officeDocument/2006/relationships/font" Target="fonts/Archiv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22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14400" y="9525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CADRAGE POC IA — FASHION-INSTA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14400" y="3767658"/>
            <a:ext cx="14716125" cy="21182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211"/>
              </a:lnSpc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7800"/>
              <a:buFont typeface="Archivo"/>
              <a:buNone/>
            </a:pPr>
            <a:r>
              <a:rPr b="1" i="0" lang="en-US" sz="78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Recommandation de style vestimentaire par photo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6190729"/>
            <a:ext cx="15716250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3150"/>
              <a:buFont typeface="IBM Plex Sans"/>
              <a:buNone/>
            </a:pPr>
            <a:r>
              <a:rPr b="0" i="0" lang="en-US" sz="315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Contexte métier et cadrage du Proof of Concept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9229725"/>
            <a:ext cx="42245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pc="180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DIRECTION PRODUIT &amp;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5133290" y="9229725"/>
            <a:ext cx="24643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pc="180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SEPTEMBRE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914400" y="9525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— CONTEXTE MÉTIER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914400" y="143827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Fashion-Insta et le projet le plus prometteur de la roadmap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914400" y="2500313"/>
            <a:ext cx="5308550" cy="2081212"/>
          </a:xfrm>
          <a:prstGeom prst="roundRect">
            <a:avLst>
              <a:gd fmla="val 5492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228725" y="2852738"/>
            <a:ext cx="5147890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10,4 M€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228725" y="3590925"/>
            <a:ext cx="482029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CA annuel (5,2 M€ magasins · 5,2 M€ e-commerce)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89650" y="2500313"/>
            <a:ext cx="5308625" cy="2081212"/>
          </a:xfrm>
          <a:prstGeom prst="roundRect">
            <a:avLst>
              <a:gd fmla="val 5492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803975" y="2852738"/>
            <a:ext cx="5147972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11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03975" y="3590925"/>
            <a:ext cx="5147972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magasins physiques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2064975" y="2500313"/>
            <a:ext cx="5308625" cy="2081212"/>
          </a:xfrm>
          <a:prstGeom prst="roundRect">
            <a:avLst>
              <a:gd fmla="val 5492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2379300" y="2852738"/>
            <a:ext cx="5147972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950k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2379300" y="3590925"/>
            <a:ext cx="5147972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visiteurs uniques / an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14400" y="5000625"/>
            <a:ext cx="16187738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667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400"/>
              <a:buFont typeface="IBM Plex Sans"/>
              <a:buNone/>
            </a:pPr>
            <a:r>
              <a:rPr b="0" i="0" lang="en-US" sz="24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Le projet : une application mobile où l'utilisateur se prend en photo avec ses vêtements et reçoit des recommandations d'articles du même esprit stylistique, puisées dans le catalogue Fashion-Insta.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14400" y="6273105"/>
            <a:ext cx="16952976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Objectif de ce document : démontrer que la brique de recommandation est faisable, avant d'investir dans le reste de l'application.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914400" y="9525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— CONTEXTE MÉTIER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914400" y="143827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Pourquoi une approche IA, et pas une règle simple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914400" y="2500313"/>
            <a:ext cx="8077200" cy="2495550"/>
          </a:xfrm>
          <a:prstGeom prst="roundRect">
            <a:avLst>
              <a:gd fmla="val 4580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1304925" y="2890838"/>
            <a:ext cx="80257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L'ENTRÉE EST UNE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304925" y="3319463"/>
            <a:ext cx="751503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883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L'utilisateur n'exprime pas ses goûts par mots-clés : il fournit une photo. Le style doit être </a:t>
            </a:r>
            <a:r>
              <a:rPr b="1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interprété visuellement </a:t>
            </a: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, pas filtré par des règles fixes.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9296400" y="2500313"/>
            <a:ext cx="8077200" cy="2495550"/>
          </a:xfrm>
          <a:prstGeom prst="roundRect">
            <a:avLst>
              <a:gd fmla="val 4580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9686925" y="2890838"/>
            <a:ext cx="80257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UNE COMBINATOIRE TROP LARGE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9686925" y="3319463"/>
            <a:ext cx="751503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883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Garde-robe utilisateur × catalogue Fashion-Insta : une combinatoire ni définissable par des règles statiques, ni traitable manuellement à l'échelle visée.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914400" y="5414963"/>
            <a:ext cx="16459200" cy="1952625"/>
          </a:xfrm>
          <a:prstGeom prst="roundRect">
            <a:avLst>
              <a:gd fmla="val 5854" name="adj"/>
            </a:avLst>
          </a:pr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1333500" y="5757863"/>
            <a:ext cx="171831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CETTE BRIQUE CONDITIONNE TOUT LE RESTE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333500" y="6167438"/>
            <a:ext cx="1608963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883"/>
              </a:lnSpc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F5F4F1"/>
                </a:solidFill>
                <a:latin typeface="IBM Plex Sans"/>
                <a:ea typeface="IBM Plex Sans"/>
                <a:cs typeface="IBM Plex Sans"/>
                <a:sym typeface="IBM Plex Sans"/>
              </a:rPr>
              <a:t>C'est la fonctionnalité centrale de l'app : sans elle, garde-robe, essayage virtuel, personnalisation et préférences déclarées n'ont pas de socle technique. C'est pourquoi le PoC isole cette seule brique.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914400" y="7786688"/>
            <a:ext cx="16952976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Impact attendu si cette brique fonctionne : +14% CA web · +4% CA magasin (24 mois) · ~400k utilisateurs ciblés — projections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22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914400" y="3986213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914400" y="4586288"/>
            <a:ext cx="18105120" cy="1119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7800"/>
              <a:buFont typeface="Archivo"/>
              <a:buNone/>
            </a:pPr>
            <a:r>
              <a:rPr b="1" i="0" lang="en-US" sz="78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Cadrage du Proof of Concept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914400" y="5972175"/>
            <a:ext cx="14668500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3150"/>
              <a:buFont typeface="IBM Plex Sans"/>
              <a:buNone/>
            </a:pPr>
            <a:r>
              <a:rPr b="0" i="0" lang="en-US" sz="315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Isoler la brique IA critique, la tester, et décider en connaissance de cause.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914400" y="9525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— LE POC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914400" y="143827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Une seule question à valider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1785938" y="4717777"/>
            <a:ext cx="14716125" cy="18896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3600"/>
              <a:buFont typeface="Archivo"/>
              <a:buNone/>
            </a:pPr>
            <a:r>
              <a:rPr b="1" i="0" lang="en-US" sz="36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« Peut-on, à partir de photos de l'utilisateur portant les vêtements de sa garde-robe, recommander des articles du catalogue Fashion-Insta correspondant à ses goûts ? »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91440" y="9205913"/>
            <a:ext cx="1810512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Mono"/>
              <a:buNone/>
            </a:pPr>
            <a:r>
              <a:rPr b="0" i="0" lang="en-US" spc="39" sz="195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Restitué via une démo légère — pas une application mobile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914400" y="9525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— APPROCHE TECHNIQUE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914400" y="143827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Deux approches comparées, pas choisies a priori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914400" y="2500313"/>
            <a:ext cx="8067675" cy="62865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1381125" y="2967038"/>
            <a:ext cx="784764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180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APPROCHE A — BASELINE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1381125" y="3452813"/>
            <a:ext cx="784764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3150"/>
              <a:buFont typeface="Archivo"/>
              <a:buNone/>
            </a:pPr>
            <a:r>
              <a:rPr b="1" i="0" lang="en-US" sz="31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Correspondance par tags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1381125" y="4081463"/>
            <a:ext cx="7348252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667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2400"/>
              <a:buFont typeface="IBM Plex Sans"/>
              <a:buNone/>
            </a:pPr>
            <a:r>
              <a:rPr b="0" i="0" lang="en-US" sz="24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Rapide à mettre en œuvre et facilement explicable aux métiers.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9286875" y="2500313"/>
            <a:ext cx="8086725" cy="628650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14870385" y="2328863"/>
            <a:ext cx="2103165" cy="447675"/>
          </a:xfrm>
          <a:prstGeom prst="roundRect">
            <a:avLst>
              <a:gd fmla="val 42553" name="adj"/>
            </a:avLst>
          </a:prstGeom>
          <a:solidFill>
            <a:srgbClr val="C77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15041835" y="2405063"/>
            <a:ext cx="18364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BM Plex Mono"/>
              <a:buNone/>
            </a:pPr>
            <a:r>
              <a:rPr b="0" i="0" lang="en-US" spc="180" sz="1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RECOMMANDÉE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9763125" y="2976563"/>
            <a:ext cx="784764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180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APPROCHE 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9763125" y="3462338"/>
            <a:ext cx="784764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3150"/>
              <a:buFont typeface="Archivo"/>
              <a:buNone/>
            </a:pPr>
            <a:r>
              <a:rPr b="1" i="0" lang="en-US" sz="31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Similarité vectorielle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9763125" y="4090987"/>
            <a:ext cx="7348252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667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2400"/>
              <a:buFont typeface="IBM Plex Sans"/>
              <a:buNone/>
            </a:pPr>
            <a:r>
              <a:rPr b="0" i="0" lang="en-US" sz="24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Matching structuré entre attributs utilisateur et catalogue — classement plus nuancé.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914400" y="9205913"/>
            <a:ext cx="1810512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Représentation visuelle apprise (embeddings) — piste future, écartée de ce PoC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— DONNÉES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914400" y="124777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Une logique de recherche dans un catalogue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3709392" y="2600325"/>
            <a:ext cx="27359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PHOTO GARDE-ROBE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3897139" y="2971800"/>
            <a:ext cx="23228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(proxy DeepFashion)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11547277" y="2600325"/>
            <a:ext cx="39329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CATALOGUE FASHION-INSTA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12363450" y="2971800"/>
            <a:ext cx="21374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(images, prix, tags)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510540" y="3400425"/>
            <a:ext cx="88849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72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 classification visuelle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8892540" y="3400425"/>
            <a:ext cx="88849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72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 normalisation des tags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914400" y="3829050"/>
            <a:ext cx="8077200" cy="1004887"/>
          </a:xfrm>
          <a:prstGeom prst="roundRect">
            <a:avLst>
              <a:gd fmla="val 11374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751522" y="4048125"/>
            <a:ext cx="8402955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ATTRIBUTS DE STYLE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751522" y="4319588"/>
            <a:ext cx="84029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(profil photo)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9296400" y="3829050"/>
            <a:ext cx="8077200" cy="1004887"/>
          </a:xfrm>
          <a:prstGeom prst="roundRect">
            <a:avLst>
              <a:gd fmla="val 11374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9133523" y="4048125"/>
            <a:ext cx="8402955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ATTRIBUTS DE STYLE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9133523" y="4319588"/>
            <a:ext cx="84029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(par article)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91440" y="4967288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6839769" y="5395913"/>
            <a:ext cx="4608388" cy="1004887"/>
          </a:xfrm>
          <a:prstGeom prst="roundRect">
            <a:avLst>
              <a:gd fmla="val 11374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7007494" y="5605463"/>
            <a:ext cx="4272937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MATCHING / SCORE DE STYLE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7007494" y="5895975"/>
            <a:ext cx="42729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(tags ou similarité pondérée)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91440" y="653415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6573515" y="6962775"/>
            <a:ext cx="5140970" cy="633413"/>
          </a:xfrm>
          <a:prstGeom prst="roundRect">
            <a:avLst>
              <a:gd fmla="val 18045" name="adj"/>
            </a:avLst>
          </a:pr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6735567" y="7134225"/>
            <a:ext cx="4816867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TOP-5 ARTICLES RECOMMANDÉS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914400" y="8305800"/>
            <a:ext cx="16952976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195 540 paires photo portée / photo catalogue (DeepFashion Consumer-to-shop) — proxy en l'absence de données utilisateurs réelles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914400" y="9163050"/>
            <a:ext cx="16952976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Limites assumées : proxy externe non 100% représentatif · licence non commerciale · ré-annotation nécessaire sur les 5 styles Fashion-Insta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/>
          <p:nvPr/>
        </p:nvSpPr>
        <p:spPr>
          <a:xfrm>
            <a:off x="914400" y="9525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— CRITÈRE DE SUCCÈS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914400" y="143827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Le PoC est un succès si, en moyenne…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914400" y="2500313"/>
            <a:ext cx="5283175" cy="5173117"/>
          </a:xfrm>
          <a:prstGeom prst="roundRect">
            <a:avLst>
              <a:gd fmla="val 2209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1304925" y="4265861"/>
            <a:ext cx="495233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5400"/>
              <a:buFont typeface="Archivo"/>
              <a:buNone/>
            </a:pPr>
            <a:r>
              <a:rPr b="1" i="0" lang="en-US" sz="54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3 / 5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1304925" y="5161211"/>
            <a:ext cx="4637189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89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articles recommandés jugés pertinents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6502375" y="2500313"/>
            <a:ext cx="5283250" cy="5173117"/>
          </a:xfrm>
          <a:prstGeom prst="roundRect">
            <a:avLst>
              <a:gd fmla="val 2209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6892900" y="4428679"/>
            <a:ext cx="495242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5400"/>
              <a:buFont typeface="Archivo"/>
              <a:buNone/>
            </a:pPr>
            <a:r>
              <a:rPr b="1" i="0" lang="en-US" sz="54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≥ 1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6892900" y="5371654"/>
            <a:ext cx="4952420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89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article jugé très pertinent parmi les 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2090425" y="2500313"/>
            <a:ext cx="5283175" cy="5173117"/>
          </a:xfrm>
          <a:prstGeom prst="roundRect">
            <a:avLst>
              <a:gd fmla="val 2209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12480950" y="4265861"/>
            <a:ext cx="495233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5400"/>
              <a:buFont typeface="Archivo"/>
              <a:buNone/>
            </a:pPr>
            <a:r>
              <a:rPr b="1" i="0" lang="en-US" sz="54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1 / 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12480950" y="5161211"/>
            <a:ext cx="4637189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89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profils avec le meilleur article en position 1 ou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914400" y="8092529"/>
            <a:ext cx="16459200" cy="1432471"/>
          </a:xfrm>
          <a:prstGeom prst="roundRect">
            <a:avLst>
              <a:gd fmla="val 7979" name="adj"/>
            </a:avLst>
          </a:pr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1333500" y="8501583"/>
            <a:ext cx="4143851" cy="652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4200"/>
              <a:buFont typeface="Archivo"/>
              <a:buNone/>
            </a:pPr>
            <a:r>
              <a:rPr b="1" i="0" lang="en-US" sz="4200" u="none" cap="none" strike="noStrike">
                <a:solidFill>
                  <a:srgbClr val="C77B2D"/>
                </a:solidFill>
                <a:latin typeface="Archivo"/>
                <a:ea typeface="Archivo"/>
                <a:cs typeface="Archivo"/>
                <a:sym typeface="Archivo"/>
              </a:rPr>
              <a:t>NDCG@5 ≥ 0,7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367338" y="8435429"/>
            <a:ext cx="11934777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89"/>
              </a:lnSpc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Traduction technique du critère métier. L'approche B devra surpasser l'approche A pour être retenue.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914400" y="9525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— DIMENSIONNEMENT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914400" y="143827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4 semaines, 21,5 jours-hommes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14400" y="5036344"/>
            <a:ext cx="371885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3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7800"/>
              <a:buFont typeface="Archivo"/>
              <a:buNone/>
            </a:pPr>
            <a:r>
              <a:rPr b="1" i="0" lang="en-US" sz="78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21,5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14400" y="6255544"/>
            <a:ext cx="348220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jours-hommes, à partir du feu vert COMEX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4752380" y="4988719"/>
            <a:ext cx="12621220" cy="19050"/>
          </a:xfrm>
          <a:prstGeom prst="rect">
            <a:avLst/>
          </a:prstGeom>
          <a:solidFill>
            <a:srgbClr val="171A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4752380" y="4502944"/>
            <a:ext cx="92555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108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PROFIL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12745819" y="4502944"/>
            <a:ext cx="46277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108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JOURS-HOMMES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4752380" y="5903119"/>
            <a:ext cx="1262122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4752380" y="5255419"/>
            <a:ext cx="925556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400"/>
              <a:buFont typeface="IBM Plex Sans"/>
              <a:buNone/>
            </a:pPr>
            <a:r>
              <a:rPr b="0" i="0" lang="en-US" sz="24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Scientist / ML Engineer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12745819" y="5269706"/>
            <a:ext cx="462778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14,5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4752380" y="6807994"/>
            <a:ext cx="1262122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/>
          <p:nvPr/>
        </p:nvSpPr>
        <p:spPr>
          <a:xfrm>
            <a:off x="4752380" y="6160294"/>
            <a:ext cx="925556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400"/>
              <a:buFont typeface="IBM Plex Sans"/>
              <a:buNone/>
            </a:pPr>
            <a:r>
              <a:rPr b="0" i="0" lang="en-US" sz="24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Engineer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12745819" y="6174581"/>
            <a:ext cx="462778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4,5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4752380" y="7065169"/>
            <a:ext cx="925556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400"/>
              <a:buFont typeface="IBM Plex Sans"/>
              <a:buNone/>
            </a:pPr>
            <a:r>
              <a:rPr b="0" i="0" lang="en-US" sz="24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Expert métier (style)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12745819" y="7079456"/>
            <a:ext cx="462778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2,5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/>
          <p:nvPr/>
        </p:nvSpPr>
        <p:spPr>
          <a:xfrm>
            <a:off x="914400" y="9525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— LIMITES &amp; RISQUES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914400" y="143827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Limites et risques, présentés factuellement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914400" y="2500313"/>
            <a:ext cx="8077200" cy="7024688"/>
          </a:xfrm>
          <a:prstGeom prst="roundRect">
            <a:avLst>
              <a:gd fmla="val 1627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1343025" y="2928938"/>
            <a:ext cx="7941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LIMITES DE L'ÉVALUATION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1343025" y="3471863"/>
            <a:ext cx="794194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883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Échantillon restreint : 10 à 15 profils simulés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1343025" y="4148137"/>
            <a:ext cx="794194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883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Donnée externe non représentative à 100%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1343025" y="4824413"/>
            <a:ext cx="794194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883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Aucun accord inter-annotateurs mesuré entre experts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9296400" y="2500313"/>
            <a:ext cx="8077200" cy="7024688"/>
          </a:xfrm>
          <a:prstGeom prst="roundRect">
            <a:avLst>
              <a:gd fmla="val 1627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9725025" y="2928938"/>
            <a:ext cx="7941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RISQUES D'EXÉCUTION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9725025" y="3471863"/>
            <a:ext cx="74365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883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1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Technique : </a:t>
            </a: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calibration du classifieur d'attributs sur les photos Fashion-Insta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9725025" y="4576763"/>
            <a:ext cx="743654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883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1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Planning : </a:t>
            </a: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disponibilité de l'expert métier sur ses créneaux dédiés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22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/>
          <p:nvPr/>
        </p:nvSpPr>
        <p:spPr>
          <a:xfrm>
            <a:off x="914400" y="9525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— LA DEMANDE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914400" y="3232324"/>
            <a:ext cx="15697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149"/>
              </a:lnSpc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6000"/>
              <a:buFont typeface="Archivo"/>
              <a:buNone/>
            </a:pPr>
            <a:r>
              <a:rPr b="1" i="0" lang="en-US" sz="60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Le feu vert pour lancer ce PoC de 4 semaines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914400" y="5213524"/>
            <a:ext cx="15697200" cy="9981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234"/>
              </a:lnSpc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2700"/>
              <a:buFont typeface="IBM Plex Sans"/>
              <a:buNone/>
            </a:pPr>
            <a:r>
              <a:rPr b="0" i="0" lang="en-US" sz="270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À l'issue : une restitution comparant les deux approches, puis une décision de poursuivre — system design, coûts, ROI — si le critère de succès est atteint.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914400" y="8167687"/>
            <a:ext cx="4845025" cy="1347788"/>
          </a:xfrm>
          <a:prstGeom prst="roundRect">
            <a:avLst>
              <a:gd fmla="val 8481" name="adj"/>
            </a:avLst>
          </a:prstGeom>
          <a:noFill/>
          <a:ln cap="flat" cmpd="sng" w="9525">
            <a:solidFill>
              <a:srgbClr val="3A3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1017906" y="8482013"/>
            <a:ext cx="46380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MAINTENANT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1017906" y="8872538"/>
            <a:ext cx="463801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Feu vert COMEX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6026125" y="8593931"/>
            <a:ext cx="5143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3300"/>
              <a:buFont typeface="Archivo"/>
              <a:buNone/>
            </a:pPr>
            <a:r>
              <a:rPr b="0" i="0" lang="en-US" sz="3300" u="none" cap="none" strike="noStrike">
                <a:solidFill>
                  <a:srgbClr val="7D8280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6711925" y="8167687"/>
            <a:ext cx="4845100" cy="1347788"/>
          </a:xfrm>
          <a:prstGeom prst="roundRect">
            <a:avLst>
              <a:gd fmla="val 8481" name="adj"/>
            </a:avLst>
          </a:prstGeom>
          <a:noFill/>
          <a:ln cap="flat" cmpd="sng" w="9525">
            <a:solidFill>
              <a:srgbClr val="3A3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6815428" y="8482013"/>
            <a:ext cx="46380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4 SEMAINES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6815428" y="8872538"/>
            <a:ext cx="463809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Exécution du PoC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11823725" y="8593931"/>
            <a:ext cx="5143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3300"/>
              <a:buFont typeface="Archivo"/>
              <a:buNone/>
            </a:pPr>
            <a:r>
              <a:rPr b="0" i="0" lang="en-US" sz="3300" u="none" cap="none" strike="noStrike">
                <a:solidFill>
                  <a:srgbClr val="7D8280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12509525" y="8158163"/>
            <a:ext cx="4864075" cy="1366838"/>
          </a:xfrm>
          <a:prstGeom prst="roundRect">
            <a:avLst>
              <a:gd fmla="val 8362" name="adj"/>
            </a:avLst>
          </a:prstGeom>
          <a:noFill/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12622556" y="8482013"/>
            <a:ext cx="46380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DÉCISION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12622556" y="8872538"/>
            <a:ext cx="463801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Go / No-go phase suivante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224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/>
          <p:nvPr/>
        </p:nvSpPr>
        <p:spPr>
          <a:xfrm>
            <a:off x="914400" y="3726656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914400" y="4326731"/>
            <a:ext cx="18105120" cy="1119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7800"/>
              <a:buFont typeface="Archivo"/>
              <a:buNone/>
            </a:pPr>
            <a:r>
              <a:rPr b="1" i="0" lang="en-US" sz="78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De la preuve à la production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914400" y="5712619"/>
            <a:ext cx="13735050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3150"/>
              <a:buFont typeface="IBM Plex Sans"/>
              <a:buNone/>
            </a:pPr>
            <a:r>
              <a:rPr b="0" i="0" lang="en-US" sz="315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 Design, équipe, timeline et dimensionnement économique de la solution Data &amp; IA complète.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/>
          <p:nvPr/>
        </p:nvSpPr>
        <p:spPr>
          <a:xfrm>
            <a:off x="762000" y="571500"/>
            <a:ext cx="1844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09 —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762000" y="981075"/>
            <a:ext cx="18440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050"/>
              <a:buFont typeface="Archivo"/>
              <a:buNone/>
            </a:pPr>
            <a:r>
              <a:rPr b="1" i="0" lang="en-US" sz="40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Les 5 briques de la plateforme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09750"/>
            <a:ext cx="16764000" cy="69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5"/>
          <p:cNvSpPr/>
          <p:nvPr/>
        </p:nvSpPr>
        <p:spPr>
          <a:xfrm>
            <a:off x="3333750" y="1714500"/>
            <a:ext cx="4387602" cy="295275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3429000" y="1714500"/>
            <a:ext cx="46358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MICROSOFT AZURE — DATA &amp;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762000" y="4572000"/>
            <a:ext cx="2000250" cy="1333500"/>
          </a:xfrm>
          <a:prstGeom prst="roundRect">
            <a:avLst>
              <a:gd fmla="val 7143" name="adj"/>
            </a:avLst>
          </a:prstGeom>
          <a:solidFill>
            <a:srgbClr val="F5F4F1"/>
          </a:solidFill>
          <a:ln cap="flat" cmpd="sng" w="19050">
            <a:solidFill>
              <a:srgbClr val="9A9D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933450" y="4940126"/>
            <a:ext cx="1823085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Utilisateur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933450" y="5263009"/>
            <a:ext cx="1823085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via l'app mobile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3524250" y="4572000"/>
            <a:ext cx="2190750" cy="13335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9050">
            <a:solidFill>
              <a:srgbClr val="2A75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3695700" y="4660627"/>
            <a:ext cx="192405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666AA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666AA"/>
                </a:solidFill>
                <a:latin typeface="Archivo"/>
                <a:ea typeface="Archivo"/>
                <a:cs typeface="Archivo"/>
                <a:sym typeface="Archivo"/>
              </a:rPr>
              <a:t>1 </a:t>
            </a: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· Point d'entrée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3695700" y="5268292"/>
            <a:ext cx="19240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1666AA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666AA"/>
                </a:solidFill>
                <a:latin typeface="IBM Plex Mono"/>
                <a:ea typeface="IBM Plex Mono"/>
                <a:cs typeface="IBM Plex Mono"/>
                <a:sym typeface="IBM Plex Mono"/>
              </a:rPr>
              <a:t>API Management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3524250" y="6915150"/>
            <a:ext cx="2190750" cy="123825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9050">
            <a:solidFill>
              <a:srgbClr val="2A75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3695700" y="7093297"/>
            <a:ext cx="192405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666AA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666AA"/>
                </a:solidFill>
                <a:latin typeface="Archivo"/>
                <a:ea typeface="Archivo"/>
                <a:cs typeface="Archivo"/>
                <a:sym typeface="Archivo"/>
              </a:rPr>
              <a:t>2 </a:t>
            </a: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· Données utilisateurs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3695700" y="7700963"/>
            <a:ext cx="2032635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1666AA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666AA"/>
                </a:solidFill>
                <a:latin typeface="IBM Plex Mono"/>
                <a:ea typeface="IBM Plex Mono"/>
                <a:cs typeface="IBM Plex Mono"/>
                <a:sym typeface="IBM Plex Mono"/>
              </a:rPr>
              <a:t>Blob · 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6724650" y="2419350"/>
            <a:ext cx="2200796" cy="295275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6800850" y="2419350"/>
            <a:ext cx="22684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64E00"/>
              </a:buClr>
              <a:buSzPts val="1800"/>
              <a:buFont typeface="IBM Plex Mono"/>
              <a:buNone/>
            </a:pPr>
            <a:r>
              <a:rPr b="1" i="0" lang="en-US" spc="72" sz="1800" u="none" cap="none" strike="noStrike">
                <a:solidFill>
                  <a:srgbClr val="964E00"/>
                </a:solidFill>
                <a:latin typeface="IBM Plex Mono"/>
                <a:ea typeface="IBM Plex Mono"/>
                <a:cs typeface="IBM Plex Mono"/>
                <a:sym typeface="IBM Plex Mono"/>
              </a:rPr>
              <a:t>4 </a:t>
            </a:r>
            <a:r>
              <a:rPr b="0" i="0" lang="en-US" spc="72" sz="1800" u="none" cap="none" strike="noStrike">
                <a:solidFill>
                  <a:srgbClr val="964E00"/>
                </a:solidFill>
                <a:highlight>
                  <a:srgbClr val="F5F4F1"/>
                </a:highlight>
                <a:latin typeface="IBM Plex Mono"/>
                <a:ea typeface="IBM Plex Mono"/>
                <a:cs typeface="IBM Plex Mono"/>
                <a:sym typeface="IBM Plex Mono"/>
              </a:rPr>
              <a:t>· MODÈLES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6762750" y="2800350"/>
            <a:ext cx="2857500" cy="1028700"/>
          </a:xfrm>
          <a:prstGeom prst="roundRect">
            <a:avLst>
              <a:gd fmla="val 9259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6934200" y="3016076"/>
            <a:ext cx="2766060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Empreinte de style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6934200" y="3338959"/>
            <a:ext cx="276606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964E0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64E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Azure 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6762750" y="3962400"/>
            <a:ext cx="2857500" cy="1028700"/>
          </a:xfrm>
          <a:prstGeom prst="roundRect">
            <a:avLst>
              <a:gd fmla="val 9259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6934200" y="4178126"/>
            <a:ext cx="2766060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Essayage virtuel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6934200" y="4501009"/>
            <a:ext cx="276606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964E0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64E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Container Apps GPU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6762750" y="5124450"/>
            <a:ext cx="2857500" cy="1028700"/>
          </a:xfrm>
          <a:prstGeom prst="roundRect">
            <a:avLst>
              <a:gd fmla="val 9259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6934200" y="5340176"/>
            <a:ext cx="2766060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Score de tendance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6934200" y="5663059"/>
            <a:ext cx="276606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964E0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64E00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Language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10763250" y="4572000"/>
            <a:ext cx="2476500" cy="13335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9050">
            <a:solidFill>
              <a:srgbClr val="2A75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10934700" y="4641577"/>
            <a:ext cx="22098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666AA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666AA"/>
                </a:solidFill>
                <a:latin typeface="Archivo"/>
                <a:ea typeface="Archivo"/>
                <a:cs typeface="Archivo"/>
                <a:sym typeface="Archivo"/>
              </a:rPr>
              <a:t>5 </a:t>
            </a: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· Moteur de recherche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10934700" y="5249242"/>
            <a:ext cx="234696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index du catalogue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10934700" y="5561633"/>
            <a:ext cx="234696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1666AA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666AA"/>
                </a:solidFill>
                <a:latin typeface="IBM Plex Mono"/>
                <a:ea typeface="IBM Plex Mono"/>
                <a:cs typeface="IBM Plex Mono"/>
                <a:sym typeface="IBM Plex Mono"/>
              </a:rPr>
              <a:t>Azure AI 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6724650" y="6991350"/>
            <a:ext cx="4980533" cy="295275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6800850" y="6991350"/>
            <a:ext cx="53261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6AA"/>
              </a:buClr>
              <a:buSzPts val="1800"/>
              <a:buFont typeface="IBM Plex Mono"/>
              <a:buNone/>
            </a:pPr>
            <a:r>
              <a:rPr b="1" i="0" lang="en-US" spc="72" sz="1800" u="none" cap="none" strike="noStrike">
                <a:solidFill>
                  <a:srgbClr val="1666AA"/>
                </a:solidFill>
                <a:latin typeface="IBM Plex Mono"/>
                <a:ea typeface="IBM Plex Mono"/>
                <a:cs typeface="IBM Plex Mono"/>
                <a:sym typeface="IBM Plex Mono"/>
              </a:rPr>
              <a:t>3 </a:t>
            </a:r>
            <a:r>
              <a:rPr b="0" i="0" lang="en-US" spc="72" sz="1800" u="none" cap="none" strike="noStrike">
                <a:solidFill>
                  <a:srgbClr val="1666AA"/>
                </a:solidFill>
                <a:highlight>
                  <a:srgbClr val="F5F4F1"/>
                </a:highlight>
                <a:latin typeface="IBM Plex Mono"/>
                <a:ea typeface="IBM Plex Mono"/>
                <a:cs typeface="IBM Plex Mono"/>
                <a:sym typeface="IBM Plex Mono"/>
              </a:rPr>
              <a:t>· DONNÉES CATALOGUE &amp; TENDANCES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6858000" y="7410450"/>
            <a:ext cx="3905250" cy="57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A75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7029450" y="7553771"/>
            <a:ext cx="3413127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Lac de données · Data Lake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11239500" y="7219950"/>
            <a:ext cx="2095500" cy="7620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9050">
            <a:solidFill>
              <a:srgbClr val="2A75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5"/>
          <p:cNvSpPr/>
          <p:nvPr/>
        </p:nvSpPr>
        <p:spPr>
          <a:xfrm>
            <a:off x="11410950" y="7302401"/>
            <a:ext cx="1927860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Ingestion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11410950" y="7625283"/>
            <a:ext cx="192786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1666AA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666AA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 Factory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15144750" y="6572250"/>
            <a:ext cx="2381250" cy="1047750"/>
          </a:xfrm>
          <a:prstGeom prst="roundRect">
            <a:avLst>
              <a:gd fmla="val 9091" name="adj"/>
            </a:avLst>
          </a:prstGeom>
          <a:solidFill>
            <a:srgbClr val="F5F4F1"/>
          </a:solidFill>
          <a:ln cap="flat" cmpd="sng" w="19050">
            <a:solidFill>
              <a:srgbClr val="9A9D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15316200" y="6797501"/>
            <a:ext cx="2242185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Catalogue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15316200" y="7120384"/>
            <a:ext cx="2242185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prix, stocks, images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15144750" y="7734300"/>
            <a:ext cx="2381250" cy="857250"/>
          </a:xfrm>
          <a:prstGeom prst="roundRect">
            <a:avLst>
              <a:gd fmla="val 11111" name="adj"/>
            </a:avLst>
          </a:prstGeom>
          <a:solidFill>
            <a:srgbClr val="F5F4F1"/>
          </a:solidFill>
          <a:ln cap="flat" cmpd="sng" w="19050">
            <a:solidFill>
              <a:srgbClr val="9A9D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15316200" y="7864376"/>
            <a:ext cx="2242185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912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Tendances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15316200" y="8187258"/>
            <a:ext cx="2242185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sources autorisées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6096000" y="4876800"/>
            <a:ext cx="800100" cy="295275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6153150" y="4876800"/>
            <a:ext cx="7658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photo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8572500" y="1809750"/>
            <a:ext cx="2034555" cy="295275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8629650" y="1809750"/>
            <a:ext cx="21237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Top-5 articles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12001500" y="6286500"/>
            <a:ext cx="800100" cy="295275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12058650" y="6286500"/>
            <a:ext cx="7658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index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8096250" y="6457950"/>
            <a:ext cx="2583210" cy="295275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8153400" y="6457950"/>
            <a:ext cx="27272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vecteurs catalogue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3333750" y="8324850"/>
            <a:ext cx="3606775" cy="371475"/>
          </a:xfrm>
          <a:prstGeom prst="roundRect">
            <a:avLst>
              <a:gd fmla="val 20513" name="adj"/>
            </a:avLst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3467100" y="8362950"/>
            <a:ext cx="344827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Sécurité </a:t>
            </a:r>
            <a:r>
              <a:rPr b="0" i="0" lang="en-US" sz="1800" u="none" cap="none" strike="noStrike">
                <a:solidFill>
                  <a:srgbClr val="171A17"/>
                </a:solidFill>
                <a:highlight>
                  <a:srgbClr val="E9E7E2"/>
                </a:highlight>
                <a:latin typeface="IBM Plex Sans"/>
                <a:ea typeface="IBM Plex Sans"/>
                <a:cs typeface="IBM Plex Sans"/>
                <a:sym typeface="IBM Plex Sans"/>
              </a:rPr>
              <a:t>· accès, chiffrement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7054825" y="8324850"/>
            <a:ext cx="3606850" cy="371475"/>
          </a:xfrm>
          <a:prstGeom prst="roundRect">
            <a:avLst>
              <a:gd fmla="val 20513" name="adj"/>
            </a:avLst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7188175" y="8362950"/>
            <a:ext cx="34483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RGPD </a:t>
            </a:r>
            <a:r>
              <a:rPr b="0" i="0" lang="en-US" sz="1800" u="none" cap="none" strike="noStrike">
                <a:solidFill>
                  <a:srgbClr val="171A17"/>
                </a:solidFill>
                <a:highlight>
                  <a:srgbClr val="E9E7E2"/>
                </a:highlight>
                <a:latin typeface="IBM Plex Sans"/>
                <a:ea typeface="IBM Plex Sans"/>
                <a:cs typeface="IBM Plex Sans"/>
                <a:sym typeface="IBM Plex Sans"/>
              </a:rPr>
              <a:t>· suppression, export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10775975" y="8324850"/>
            <a:ext cx="3606775" cy="371475"/>
          </a:xfrm>
          <a:prstGeom prst="roundRect">
            <a:avLst>
              <a:gd fmla="val 20513" name="adj"/>
            </a:avLst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10909325" y="8362950"/>
            <a:ext cx="344827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Surveillance </a:t>
            </a:r>
            <a:r>
              <a:rPr b="0" i="0" lang="en-US" sz="1800" u="none" cap="none" strike="noStrike">
                <a:solidFill>
                  <a:srgbClr val="171A17"/>
                </a:solidFill>
                <a:highlight>
                  <a:srgbClr val="E9E7E2"/>
                </a:highlight>
                <a:latin typeface="IBM Plex Sans"/>
                <a:ea typeface="IBM Plex Sans"/>
                <a:cs typeface="IBM Plex Sans"/>
                <a:sym typeface="IBM Plex Sans"/>
              </a:rPr>
              <a:t>des modèles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762000" y="9029700"/>
            <a:ext cx="1844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App, comptes et paiement considérés acquis · seule la partie Data &amp; IA est chiffrée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/>
          <p:nvPr/>
        </p:nvSpPr>
        <p:spPr>
          <a:xfrm>
            <a:off x="838200" y="685800"/>
            <a:ext cx="182727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— RECOMMANDATION PAR PHOTO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838200" y="1114425"/>
            <a:ext cx="1827276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350"/>
              <a:buFont typeface="Archivo"/>
              <a:buNone/>
            </a:pPr>
            <a:r>
              <a:rPr b="1" i="0" lang="en-US" sz="43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Le cœur de la solution, validé par le PoC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838200" y="2960563"/>
            <a:ext cx="205195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À LA DEMANDE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2856012" y="2922463"/>
            <a:ext cx="492131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Quand l'utilisateur envoie une photo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838200" y="3398713"/>
            <a:ext cx="3013695" cy="1710482"/>
          </a:xfrm>
          <a:prstGeom prst="roundRect">
            <a:avLst>
              <a:gd fmla="val 6682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1057275" y="3918719"/>
            <a:ext cx="28331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Photo envoyée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1057275" y="4314899"/>
            <a:ext cx="283310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API Management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3813795" y="3398713"/>
            <a:ext cx="457200" cy="174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4232895" y="3398713"/>
            <a:ext cx="3032820" cy="1710482"/>
          </a:xfrm>
          <a:prstGeom prst="roundRect">
            <a:avLst>
              <a:gd fmla="val 6682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4461495" y="3621584"/>
            <a:ext cx="2652888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Visage et fond floutés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4461495" y="4337745"/>
            <a:ext cx="265288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avant tout stockage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7227615" y="3398713"/>
            <a:ext cx="457200" cy="174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7646715" y="3398713"/>
            <a:ext cx="3032745" cy="1710482"/>
          </a:xfrm>
          <a:prstGeom prst="roundRect">
            <a:avLst>
              <a:gd fmla="val 6682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7875315" y="3758729"/>
            <a:ext cx="2652811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Empreinte de style de la photo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7875315" y="4474890"/>
            <a:ext cx="283310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Azure 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10641360" y="3398713"/>
            <a:ext cx="457200" cy="174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11060460" y="3398713"/>
            <a:ext cx="3013695" cy="1710482"/>
          </a:xfrm>
          <a:prstGeom prst="roundRect">
            <a:avLst>
              <a:gd fmla="val 6682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11279535" y="3598738"/>
            <a:ext cx="2652811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Recherche des articles les plus proches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11279535" y="4634880"/>
            <a:ext cx="283310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Azure AI 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14036055" y="3398713"/>
            <a:ext cx="457200" cy="174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14455155" y="3398713"/>
            <a:ext cx="2994645" cy="1710482"/>
          </a:xfrm>
          <a:prstGeom prst="roundRect">
            <a:avLst>
              <a:gd fmla="val 6682" name="adj"/>
            </a:avLst>
          </a:pr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14664705" y="4093964"/>
            <a:ext cx="28331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Top-5 affiché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838200" y="5566395"/>
            <a:ext cx="136796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EN AMONT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2234208" y="5528295"/>
            <a:ext cx="464161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À chaque mise à jour du catalogue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838200" y="6004545"/>
            <a:ext cx="3862387" cy="1409551"/>
          </a:xfrm>
          <a:prstGeom prst="roundRect">
            <a:avLst>
              <a:gd fmla="val 8109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1057275" y="6374085"/>
            <a:ext cx="376666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Catalogue Fashion-Insta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1057275" y="6770266"/>
            <a:ext cx="3766661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PIM · ERP · e-commerce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4662488" y="6004545"/>
            <a:ext cx="457200" cy="1447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5081588" y="6004545"/>
            <a:ext cx="3862387" cy="1409551"/>
          </a:xfrm>
          <a:prstGeom prst="roundRect">
            <a:avLst>
              <a:gd fmla="val 8109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5300663" y="6374085"/>
            <a:ext cx="376666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Consolidation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5300663" y="6770266"/>
            <a:ext cx="3766661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 Factory · Data Lake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8905875" y="6004545"/>
            <a:ext cx="457200" cy="1447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9324975" y="6004545"/>
            <a:ext cx="3881438" cy="1409551"/>
          </a:xfrm>
          <a:prstGeom prst="roundRect">
            <a:avLst>
              <a:gd fmla="val 8109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9553575" y="6214095"/>
            <a:ext cx="352696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Empreinte de style de chaque article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9553575" y="6930256"/>
            <a:ext cx="3766661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Azure ML · même modèle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13168313" y="6004545"/>
            <a:ext cx="457200" cy="1447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13587413" y="6004545"/>
            <a:ext cx="3862387" cy="1409551"/>
          </a:xfrm>
          <a:prstGeom prst="roundRect">
            <a:avLst>
              <a:gd fmla="val 8109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13806488" y="6374085"/>
            <a:ext cx="376666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Index de recherche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13806488" y="6770266"/>
            <a:ext cx="3766661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Azure AI 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838200" y="8622060"/>
            <a:ext cx="8172450" cy="1131540"/>
          </a:xfrm>
          <a:prstGeom prst="roundRect">
            <a:avLst>
              <a:gd fmla="val 10101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1095375" y="8841135"/>
            <a:ext cx="7903274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Photo et articles passent par </a:t>
            </a:r>
            <a:r>
              <a:rPr b="1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le même modèle </a:t>
            </a:r>
            <a:r>
              <a:rPr b="0" i="0" lang="en-US" sz="1950" u="none" cap="none" strike="noStrike">
                <a:solidFill>
                  <a:srgbClr val="171A17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: ils sont comparés sur la même échelle.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9277350" y="8622060"/>
            <a:ext cx="8172450" cy="1131540"/>
          </a:xfrm>
          <a:prstGeom prst="roundRect">
            <a:avLst>
              <a:gd fmla="val 10101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9534525" y="8841135"/>
            <a:ext cx="7903274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Le catalogue est </a:t>
            </a:r>
            <a:r>
              <a:rPr b="1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préparé à l'avance </a:t>
            </a:r>
            <a:r>
              <a:rPr b="0" i="0" lang="en-US" sz="1950" u="none" cap="none" strike="noStrike">
                <a:solidFill>
                  <a:srgbClr val="171A17"/>
                </a:solidFill>
                <a:highlight>
                  <a:srgbClr val="FFFFFF"/>
                </a:highlight>
                <a:latin typeface="IBM Plex Sans"/>
                <a:ea typeface="IBM Plex Sans"/>
                <a:cs typeface="IBM Plex Sans"/>
                <a:sym typeface="IBM Plex Sans"/>
              </a:rPr>
              <a:t>: il n'est jamais recalculé au moment de la demande.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/>
          <p:nvPr/>
        </p:nvSpPr>
        <p:spPr>
          <a:xfrm>
            <a:off x="838200" y="685800"/>
            <a:ext cx="182727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11 — ESSAYAGE VIRTUEL &amp; PRÉFÉRENCES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838200" y="1114425"/>
            <a:ext cx="1827276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350"/>
              <a:buFont typeface="Archivo"/>
              <a:buNone/>
            </a:pPr>
            <a:r>
              <a:rPr b="1" i="0" lang="en-US" sz="43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Deux services complémentaires, indépendants de la photo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838200" y="3055813"/>
            <a:ext cx="341992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2 · ESSAYAGE VIRTUEL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4099620" y="3017713"/>
            <a:ext cx="588581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L'utilisateur voit l'article choisi sur sa photo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838200" y="3493963"/>
            <a:ext cx="3013695" cy="1683841"/>
          </a:xfrm>
          <a:prstGeom prst="roundRect">
            <a:avLst>
              <a:gd fmla="val 6788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1057275" y="4000649"/>
            <a:ext cx="28331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Article choisi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1057275" y="4396829"/>
            <a:ext cx="283310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parmi le Top-5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3813795" y="3493963"/>
            <a:ext cx="457200" cy="172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4232895" y="3493963"/>
            <a:ext cx="3013770" cy="1683841"/>
          </a:xfrm>
          <a:prstGeom prst="roundRect">
            <a:avLst>
              <a:gd fmla="val 6788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4451970" y="3863504"/>
            <a:ext cx="283318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File d'attente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4451970" y="4259684"/>
            <a:ext cx="265288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absorbe les pics · Service Bus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7208565" y="3493963"/>
            <a:ext cx="457200" cy="172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7627665" y="3493963"/>
            <a:ext cx="3032745" cy="1683841"/>
          </a:xfrm>
          <a:prstGeom prst="roundRect">
            <a:avLst>
              <a:gd fmla="val 6788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7856265" y="3703513"/>
            <a:ext cx="2652811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Génération de l'image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7856265" y="4419674"/>
            <a:ext cx="2652811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IA générative · GPU à la demande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0622310" y="3493963"/>
            <a:ext cx="457200" cy="172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11041410" y="3493963"/>
            <a:ext cx="3032745" cy="1683841"/>
          </a:xfrm>
          <a:prstGeom prst="roundRect">
            <a:avLst>
              <a:gd fmla="val 6788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11270010" y="3840659"/>
            <a:ext cx="2652811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Mention « image générée par IA »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11270010" y="4556820"/>
            <a:ext cx="283310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Act art. 50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14036055" y="3493963"/>
            <a:ext cx="457200" cy="172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14455155" y="3493963"/>
            <a:ext cx="2994645" cy="1683841"/>
          </a:xfrm>
          <a:prstGeom prst="roundRect">
            <a:avLst>
              <a:gd fmla="val 6788" name="adj"/>
            </a:avLst>
          </a:pr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14664705" y="4175894"/>
            <a:ext cx="283310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Rendu affiché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838200" y="5311155"/>
            <a:ext cx="18272760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Le poste le plus coûteux : la puissance de calcul (GPU) n'est facturée que pendant la génération.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838200" y="6153150"/>
            <a:ext cx="46168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3 · PRÉFÉRENCES &amp; TENDANCES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5187702" y="6115050"/>
            <a:ext cx="621242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Recommandations à partir des goûts déclarés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838200" y="6591300"/>
            <a:ext cx="3862387" cy="1683841"/>
          </a:xfrm>
          <a:prstGeom prst="roundRect">
            <a:avLst>
              <a:gd fmla="val 6788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1057275" y="7097985"/>
            <a:ext cx="376666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Styles et marques déclarés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1057275" y="7494166"/>
            <a:ext cx="3766661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Azure SQL Database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4662488" y="6591300"/>
            <a:ext cx="457200" cy="172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5081588" y="6591300"/>
            <a:ext cx="3881438" cy="1683841"/>
          </a:xfrm>
          <a:prstGeom prst="roundRect">
            <a:avLst>
              <a:gd fmla="val 6788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5310188" y="6800850"/>
            <a:ext cx="352696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Score de tendance par style et marque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5310188" y="7517011"/>
            <a:ext cx="352696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analyse de textes · AI Language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8924925" y="6591300"/>
            <a:ext cx="457200" cy="172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9344025" y="6591300"/>
            <a:ext cx="3881438" cy="1683841"/>
          </a:xfrm>
          <a:prstGeom prst="roundRect">
            <a:avLst>
              <a:gd fmla="val 6788" name="adj"/>
            </a:avLst>
          </a:prstGeom>
          <a:solidFill>
            <a:srgbClr val="FFFFFF"/>
          </a:solidFill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9572625" y="7097985"/>
            <a:ext cx="376666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Filtre et tri du catalogue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9572625" y="7494166"/>
            <a:ext cx="3766661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03"/>
              </a:lnSpc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Azure 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13187363" y="6591300"/>
            <a:ext cx="457200" cy="1721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13606463" y="6591300"/>
            <a:ext cx="3843338" cy="1683841"/>
          </a:xfrm>
          <a:prstGeom prst="roundRect">
            <a:avLst>
              <a:gd fmla="val 6788" name="adj"/>
            </a:avLst>
          </a:pr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13816013" y="7273230"/>
            <a:ext cx="376666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164"/>
              </a:lnSpc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Sélection personnalisée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838200" y="8408491"/>
            <a:ext cx="18272760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N'utilise ni la photo ni l'essayage virtuel : livré après les deux premiers services.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"/>
          <p:cNvSpPr/>
          <p:nvPr/>
        </p:nvSpPr>
        <p:spPr>
          <a:xfrm>
            <a:off x="762000" y="685800"/>
            <a:ext cx="1844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— RÔLES &amp; RESPONSABILITÉS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762000" y="1114425"/>
            <a:ext cx="1726692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350"/>
              <a:buFont typeface="Archivo"/>
              <a:buNone/>
            </a:pPr>
            <a:r>
              <a:rPr b="1" i="0" lang="en-US" sz="43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Chaque service a un responsable, de la construction à l'exploitation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762000" y="2619375"/>
            <a:ext cx="4033837" cy="6143625"/>
          </a:xfrm>
          <a:prstGeom prst="roundRect">
            <a:avLst>
              <a:gd fmla="val 2834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1038225" y="2914650"/>
            <a:ext cx="382952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Data Scientists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1038225" y="3305175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×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1038225" y="3790950"/>
            <a:ext cx="3481388" cy="9525"/>
          </a:xfrm>
          <a:prstGeom prst="rect">
            <a:avLst/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1038225" y="3933825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DS1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1038225" y="4267200"/>
            <a:ext cx="3829526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Recommandation par photo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1038225" y="4791968"/>
            <a:ext cx="3481388" cy="9525"/>
          </a:xfrm>
          <a:prstGeom prst="rect">
            <a:avLst/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1038225" y="4934843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DS2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1038225" y="5268218"/>
            <a:ext cx="3829526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Préférences &amp; tendances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1038225" y="5792986"/>
            <a:ext cx="3481388" cy="9525"/>
          </a:xfrm>
          <a:prstGeom prst="rect">
            <a:avLst/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1038225" y="5935861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DS3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1038225" y="6269236"/>
            <a:ext cx="3829526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Essayage virtuel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5005388" y="2619375"/>
            <a:ext cx="4033837" cy="6143625"/>
          </a:xfrm>
          <a:prstGeom prst="roundRect">
            <a:avLst>
              <a:gd fmla="val 2834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/>
          <p:cNvSpPr/>
          <p:nvPr/>
        </p:nvSpPr>
        <p:spPr>
          <a:xfrm>
            <a:off x="5281613" y="2914650"/>
            <a:ext cx="382952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Data Engineers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5281613" y="3305175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×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5281613" y="3790950"/>
            <a:ext cx="3481388" cy="9525"/>
          </a:xfrm>
          <a:prstGeom prst="rect">
            <a:avLst/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5281613" y="3933825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DE1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5281613" y="4267200"/>
            <a:ext cx="3585829" cy="7066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Données utilisateurs, stockage, protection des données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5281613" y="5126236"/>
            <a:ext cx="3481388" cy="9525"/>
          </a:xfrm>
          <a:prstGeom prst="rect">
            <a:avLst/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8"/>
          <p:cNvSpPr/>
          <p:nvPr/>
        </p:nvSpPr>
        <p:spPr>
          <a:xfrm>
            <a:off x="5281613" y="5269111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DE2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5281613" y="5602486"/>
            <a:ext cx="3585829" cy="7066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Catalogue, tendances, index de recherche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9248775" y="2619375"/>
            <a:ext cx="4033837" cy="6143625"/>
          </a:xfrm>
          <a:prstGeom prst="roundRect">
            <a:avLst>
              <a:gd fmla="val 2834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"/>
          <p:cNvSpPr/>
          <p:nvPr/>
        </p:nvSpPr>
        <p:spPr>
          <a:xfrm>
            <a:off x="9525000" y="2914650"/>
            <a:ext cx="382952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Tech Lead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9525000" y="3305175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×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9525000" y="3790950"/>
            <a:ext cx="3481388" cy="9525"/>
          </a:xfrm>
          <a:prstGeom prst="rect">
            <a:avLst/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>
            <a:off x="9525000" y="3933825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9525000" y="4267200"/>
            <a:ext cx="3585829" cy="7066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L'architecture de chaque brique et la sécurité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9525000" y="5126236"/>
            <a:ext cx="3481388" cy="9525"/>
          </a:xfrm>
          <a:prstGeom prst="rect">
            <a:avLst/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8"/>
          <p:cNvSpPr/>
          <p:nvPr/>
        </p:nvSpPr>
        <p:spPr>
          <a:xfrm>
            <a:off x="9525000" y="5269111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ARBITRE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9525000" y="5602486"/>
            <a:ext cx="3585829" cy="7066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Les choix transverses et le choix d'approche après le PoC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13492163" y="2619375"/>
            <a:ext cx="4033837" cy="6143625"/>
          </a:xfrm>
          <a:prstGeom prst="roundRect">
            <a:avLst>
              <a:gd fmla="val 2834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8"/>
          <p:cNvSpPr/>
          <p:nvPr/>
        </p:nvSpPr>
        <p:spPr>
          <a:xfrm>
            <a:off x="13768388" y="2914650"/>
            <a:ext cx="382952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MLOps Engineer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13768388" y="3305175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×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13768388" y="3790950"/>
            <a:ext cx="3481388" cy="9525"/>
          </a:xfrm>
          <a:prstGeom prst="rect">
            <a:avLst/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8"/>
          <p:cNvSpPr/>
          <p:nvPr/>
        </p:nvSpPr>
        <p:spPr>
          <a:xfrm>
            <a:off x="13768388" y="3933825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MET EN PRODUCTION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13768388" y="4267200"/>
            <a:ext cx="3829526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Tous les modèles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13768388" y="4791968"/>
            <a:ext cx="3481388" cy="9525"/>
          </a:xfrm>
          <a:prstGeom prst="rect">
            <a:avLst/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13768388" y="4934843"/>
            <a:ext cx="38295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SURVEILLE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13768388" y="5268218"/>
            <a:ext cx="3585829" cy="7066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Qualité, coûts, disponibilité, réentraînements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762000" y="9067800"/>
            <a:ext cx="1726692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Les Data Scientists construisent les modèles et restent garants de leur pertinence · le MLOps les exploite · les experts métier valident en Copil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9"/>
          <p:cNvSpPr/>
          <p:nvPr/>
        </p:nvSpPr>
        <p:spPr>
          <a:xfrm>
            <a:off x="685800" y="533400"/>
            <a:ext cx="186080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13 — TIMELINE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685800" y="962025"/>
            <a:ext cx="1860804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3600"/>
              <a:buFont typeface="Archivo"/>
              <a:buNone/>
            </a:pPr>
            <a:r>
              <a:rPr b="1" i="0" lang="en-US" sz="36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Une livraison progressive en trois phases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2381250" y="1762125"/>
            <a:ext cx="2762250" cy="814388"/>
          </a:xfrm>
          <a:custGeom>
            <a:rect b="b" l="l" r="r" t="t"/>
            <a:pathLst>
              <a:path extrusionOk="0" h="814388" w="2762250">
                <a:moveTo>
                  <a:pt x="95250" y="0"/>
                </a:moveTo>
                <a:lnTo>
                  <a:pt x="2667000" y="0"/>
                </a:lnTo>
                <a:cubicBezTo>
                  <a:pt x="2692262" y="0"/>
                  <a:pt x="2716489" y="10035"/>
                  <a:pt x="2734352" y="27898"/>
                </a:cubicBezTo>
                <a:cubicBezTo>
                  <a:pt x="2752215" y="45761"/>
                  <a:pt x="2762250" y="69988"/>
                  <a:pt x="2762250" y="95250"/>
                </a:cubicBezTo>
                <a:lnTo>
                  <a:pt x="2762250" y="814388"/>
                </a:lnTo>
                <a:lnTo>
                  <a:pt x="0" y="814388"/>
                </a:ln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9"/>
          <p:cNvSpPr/>
          <p:nvPr/>
        </p:nvSpPr>
        <p:spPr>
          <a:xfrm>
            <a:off x="2533650" y="1876425"/>
            <a:ext cx="270319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PoC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2533650" y="2166938"/>
            <a:ext cx="27031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B9BCB8"/>
                </a:solidFill>
                <a:latin typeface="IBM Plex Mono"/>
                <a:ea typeface="IBM Plex Mono"/>
                <a:cs typeface="IBM Plex Mono"/>
                <a:sym typeface="IBM Plex Mono"/>
              </a:rPr>
              <a:t>4 sem.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5181600" y="1762125"/>
            <a:ext cx="457200" cy="852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C77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◆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5676900" y="1762125"/>
            <a:ext cx="5017889" cy="814388"/>
          </a:xfrm>
          <a:custGeom>
            <a:rect b="b" l="l" r="r" t="t"/>
            <a:pathLst>
              <a:path extrusionOk="0" h="814388" w="5017889">
                <a:moveTo>
                  <a:pt x="95250" y="0"/>
                </a:moveTo>
                <a:lnTo>
                  <a:pt x="4922639" y="0"/>
                </a:lnTo>
                <a:cubicBezTo>
                  <a:pt x="4947901" y="0"/>
                  <a:pt x="4972128" y="10035"/>
                  <a:pt x="4989991" y="27898"/>
                </a:cubicBezTo>
                <a:cubicBezTo>
                  <a:pt x="5007854" y="45761"/>
                  <a:pt x="5017889" y="69988"/>
                  <a:pt x="5017889" y="95250"/>
                </a:cubicBezTo>
                <a:lnTo>
                  <a:pt x="5017889" y="814388"/>
                </a:lnTo>
                <a:lnTo>
                  <a:pt x="0" y="814388"/>
                </a:ln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9"/>
          <p:cNvSpPr/>
          <p:nvPr/>
        </p:nvSpPr>
        <p:spPr>
          <a:xfrm>
            <a:off x="5829300" y="1876425"/>
            <a:ext cx="518439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MVP — panel pilote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5829300" y="2166938"/>
            <a:ext cx="518439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B9BCB8"/>
                </a:solidFill>
                <a:latin typeface="IBM Plex Mono"/>
                <a:ea typeface="IBM Plex Mono"/>
                <a:cs typeface="IBM Plex Mono"/>
                <a:sym typeface="IBM Plex Mono"/>
              </a:rPr>
              <a:t>9 sem.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10770989" y="1762125"/>
            <a:ext cx="4659511" cy="814388"/>
          </a:xfrm>
          <a:custGeom>
            <a:rect b="b" l="l" r="r" t="t"/>
            <a:pathLst>
              <a:path extrusionOk="0" h="814388" w="4659511">
                <a:moveTo>
                  <a:pt x="95250" y="0"/>
                </a:moveTo>
                <a:lnTo>
                  <a:pt x="4564261" y="0"/>
                </a:lnTo>
                <a:cubicBezTo>
                  <a:pt x="4589523" y="0"/>
                  <a:pt x="4613750" y="10035"/>
                  <a:pt x="4631613" y="27898"/>
                </a:cubicBezTo>
                <a:cubicBezTo>
                  <a:pt x="4649476" y="45761"/>
                  <a:pt x="4659511" y="69988"/>
                  <a:pt x="4659511" y="95250"/>
                </a:cubicBezTo>
                <a:lnTo>
                  <a:pt x="4659511" y="814388"/>
                </a:lnTo>
                <a:lnTo>
                  <a:pt x="0" y="814388"/>
                </a:ln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9"/>
          <p:cNvSpPr/>
          <p:nvPr/>
        </p:nvSpPr>
        <p:spPr>
          <a:xfrm>
            <a:off x="10923389" y="1876425"/>
            <a:ext cx="4790182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Run — stabilisation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10923389" y="2166938"/>
            <a:ext cx="47901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B9BCB8"/>
                </a:solidFill>
                <a:latin typeface="IBM Plex Mono"/>
                <a:ea typeface="IBM Plex Mono"/>
                <a:cs typeface="IBM Plex Mono"/>
                <a:sym typeface="IBM Plex Mono"/>
              </a:rPr>
              <a:t>7 sem.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15506700" y="1762125"/>
            <a:ext cx="2095500" cy="814388"/>
          </a:xfrm>
          <a:custGeom>
            <a:rect b="b" l="l" r="r" t="t"/>
            <a:pathLst>
              <a:path extrusionOk="0" h="814388" w="2095500">
                <a:moveTo>
                  <a:pt x="95250" y="0"/>
                </a:moveTo>
                <a:lnTo>
                  <a:pt x="2000250" y="0"/>
                </a:lnTo>
                <a:cubicBezTo>
                  <a:pt x="2025512" y="0"/>
                  <a:pt x="2049739" y="10035"/>
                  <a:pt x="2067602" y="27898"/>
                </a:cubicBezTo>
                <a:cubicBezTo>
                  <a:pt x="2085465" y="45761"/>
                  <a:pt x="2095500" y="69988"/>
                  <a:pt x="2095500" y="95250"/>
                </a:cubicBezTo>
                <a:lnTo>
                  <a:pt x="2095500" y="814388"/>
                </a:lnTo>
                <a:lnTo>
                  <a:pt x="0" y="814388"/>
                </a:ln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A3F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9"/>
          <p:cNvSpPr/>
          <p:nvPr/>
        </p:nvSpPr>
        <p:spPr>
          <a:xfrm>
            <a:off x="15659100" y="1876425"/>
            <a:ext cx="196977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100"/>
              <a:buFont typeface="Archivo"/>
              <a:buNone/>
            </a:pPr>
            <a:r>
              <a:rPr b="1" i="0" lang="en-US" sz="21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Croisière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15659100" y="2166938"/>
            <a:ext cx="19697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B9BCB8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continu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685800" y="2690813"/>
            <a:ext cx="169545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TÂCHES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2381250" y="2576513"/>
            <a:ext cx="2762250" cy="2257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"/>
          <p:cNvSpPr/>
          <p:nvPr/>
        </p:nvSpPr>
        <p:spPr>
          <a:xfrm>
            <a:off x="2381250" y="4824413"/>
            <a:ext cx="276225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9"/>
          <p:cNvSpPr/>
          <p:nvPr/>
        </p:nvSpPr>
        <p:spPr>
          <a:xfrm>
            <a:off x="2381250" y="2576513"/>
            <a:ext cx="9525" cy="22574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>
            <a:off x="5133975" y="2576513"/>
            <a:ext cx="9525" cy="22574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>
            <a:off x="2543175" y="2690813"/>
            <a:ext cx="2514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Préparer le catalogue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2543175" y="3338513"/>
            <a:ext cx="26822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Tester 2 approches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2543175" y="3700463"/>
            <a:ext cx="2514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Évaluation par les experts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DS · Expert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2543175" y="4348163"/>
            <a:ext cx="26822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964E00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964E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 Go / No-go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5400675" y="2576513"/>
            <a:ext cx="19050" cy="2257425"/>
          </a:xfrm>
          <a:prstGeom prst="rect">
            <a:avLst/>
          </a:prstGeom>
          <a:solidFill>
            <a:srgbClr val="C77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5676900" y="2576513"/>
            <a:ext cx="5017889" cy="2257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9"/>
          <p:cNvSpPr/>
          <p:nvPr/>
        </p:nvSpPr>
        <p:spPr>
          <a:xfrm>
            <a:off x="5676900" y="4824413"/>
            <a:ext cx="5017889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9"/>
          <p:cNvSpPr/>
          <p:nvPr/>
        </p:nvSpPr>
        <p:spPr>
          <a:xfrm>
            <a:off x="5676900" y="2576513"/>
            <a:ext cx="9525" cy="22574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9"/>
          <p:cNvSpPr/>
          <p:nvPr/>
        </p:nvSpPr>
        <p:spPr>
          <a:xfrm>
            <a:off x="10685264" y="2576513"/>
            <a:ext cx="9525" cy="22574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>
            <a:off x="5838825" y="2690813"/>
            <a:ext cx="51634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Socle de données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DE1 · DE2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5838825" y="3052763"/>
            <a:ext cx="51634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 par photo en service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DS1 · MLOps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5838825" y="3414713"/>
            <a:ext cx="51634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Essayage virtuel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DS3 · MLOps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5838825" y="3776662"/>
            <a:ext cx="51634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Protection des données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DE1 · TL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5838825" y="4138613"/>
            <a:ext cx="51634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964E00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964E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 Ouverture progressive à un panel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10770989" y="2576513"/>
            <a:ext cx="4659511" cy="2257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9"/>
          <p:cNvSpPr/>
          <p:nvPr/>
        </p:nvSpPr>
        <p:spPr>
          <a:xfrm>
            <a:off x="10770989" y="4824413"/>
            <a:ext cx="4659511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10770989" y="2576513"/>
            <a:ext cx="9525" cy="22574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9"/>
          <p:cNvSpPr/>
          <p:nvPr/>
        </p:nvSpPr>
        <p:spPr>
          <a:xfrm>
            <a:off x="15420975" y="2576513"/>
            <a:ext cx="9525" cy="22574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9"/>
          <p:cNvSpPr/>
          <p:nvPr/>
        </p:nvSpPr>
        <p:spPr>
          <a:xfrm>
            <a:off x="10932914" y="2690813"/>
            <a:ext cx="4465731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 préférences &amp; tendances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DS2 · DE2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10932914" y="3338513"/>
            <a:ext cx="47692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Passage à l'échelle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 · MLOps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10932914" y="3700463"/>
            <a:ext cx="47692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Droits RGPD en libre-service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DE1 · TL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10932914" y="4062412"/>
            <a:ext cx="47692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Suivi et réentraînement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MLOps · TL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10932914" y="4424363"/>
            <a:ext cx="47692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964E00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964E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 Ouverture à tous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15506700" y="2576513"/>
            <a:ext cx="2095500" cy="22574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9"/>
          <p:cNvSpPr/>
          <p:nvPr/>
        </p:nvSpPr>
        <p:spPr>
          <a:xfrm>
            <a:off x="15506700" y="4824413"/>
            <a:ext cx="20955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15506700" y="2576513"/>
            <a:ext cx="9525" cy="22574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9"/>
          <p:cNvSpPr/>
          <p:nvPr/>
        </p:nvSpPr>
        <p:spPr>
          <a:xfrm>
            <a:off x="17592675" y="2576513"/>
            <a:ext cx="9525" cy="22574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"/>
          <p:cNvSpPr/>
          <p:nvPr/>
        </p:nvSpPr>
        <p:spPr>
          <a:xfrm>
            <a:off x="15668625" y="2690813"/>
            <a:ext cx="19488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Surveillance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15668625" y="3052763"/>
            <a:ext cx="1847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774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Mises à jour des modèles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685800" y="4967287"/>
            <a:ext cx="174238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STAFFING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685800" y="5319713"/>
            <a:ext cx="1695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DS1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2381250" y="5262563"/>
            <a:ext cx="2762250" cy="1228725"/>
          </a:xfrm>
          <a:prstGeom prst="roundRect">
            <a:avLst>
              <a:gd fmla="val 6202" name="adj"/>
            </a:avLst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9"/>
          <p:cNvSpPr/>
          <p:nvPr/>
        </p:nvSpPr>
        <p:spPr>
          <a:xfrm>
            <a:off x="2533650" y="5581650"/>
            <a:ext cx="27031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73 %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2533650" y="5876925"/>
            <a:ext cx="27031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Scientist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5829300" y="5319713"/>
            <a:ext cx="48636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100 %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puis 50 %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10923389" y="5319713"/>
            <a:ext cx="44944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30 %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15659100" y="5319713"/>
            <a:ext cx="186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15 %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685800" y="5729288"/>
            <a:ext cx="1695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DS2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5829300" y="5729288"/>
            <a:ext cx="48636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20 %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0923389" y="5729288"/>
            <a:ext cx="44944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100 %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puis 20 %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5659100" y="5729288"/>
            <a:ext cx="186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20 %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685800" y="6138863"/>
            <a:ext cx="1695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DS3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5829300" y="6138863"/>
            <a:ext cx="48636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100 %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puis 30 %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10923389" y="6138863"/>
            <a:ext cx="44944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30 %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15659100" y="6138863"/>
            <a:ext cx="186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15 %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685800" y="6548438"/>
            <a:ext cx="1695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2381250" y="6491288"/>
            <a:ext cx="2762250" cy="819150"/>
          </a:xfrm>
          <a:prstGeom prst="roundRect">
            <a:avLst>
              <a:gd fmla="val 9302" name="adj"/>
            </a:avLst>
          </a:prstGeom>
          <a:solidFill>
            <a:srgbClr val="E9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2533650" y="6605588"/>
            <a:ext cx="27031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23 %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2533650" y="6900863"/>
            <a:ext cx="27031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Engineer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5829300" y="6548438"/>
            <a:ext cx="48636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100 %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puis 50 %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10923389" y="6548438"/>
            <a:ext cx="44944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50 %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15659100" y="6548438"/>
            <a:ext cx="186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25 %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685800" y="6958013"/>
            <a:ext cx="1695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5829300" y="6958013"/>
            <a:ext cx="48636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100 % </a:t>
            </a:r>
            <a:r>
              <a:rPr b="0" i="0" lang="en-US" sz="1800" u="none" cap="none" strike="noStrike">
                <a:solidFill>
                  <a:srgbClr val="7D8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puis 50 %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10923389" y="6958013"/>
            <a:ext cx="44944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50 %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15659100" y="6958013"/>
            <a:ext cx="186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25 %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685800" y="7367588"/>
            <a:ext cx="1695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Tech Lead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2533650" y="7367588"/>
            <a:ext cx="25403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5829300" y="7367588"/>
            <a:ext cx="48636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50 %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10923389" y="7367588"/>
            <a:ext cx="44944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30 %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15659100" y="7367588"/>
            <a:ext cx="186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15 %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685800" y="7777163"/>
            <a:ext cx="1695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MLOps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2533650" y="7777163"/>
            <a:ext cx="25403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5829300" y="7777163"/>
            <a:ext cx="48636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10923389" y="7777163"/>
            <a:ext cx="44944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15659100" y="7777163"/>
            <a:ext cx="186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60 %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685800" y="8186738"/>
            <a:ext cx="1695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Expert métier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2533650" y="8186738"/>
            <a:ext cx="25403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13 %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5829300" y="8186738"/>
            <a:ext cx="48636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10923389" y="8186738"/>
            <a:ext cx="44944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15659100" y="8186738"/>
            <a:ext cx="186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685800" y="8539163"/>
            <a:ext cx="161925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9"/>
          <p:cNvSpPr/>
          <p:nvPr/>
        </p:nvSpPr>
        <p:spPr>
          <a:xfrm>
            <a:off x="685800" y="8682038"/>
            <a:ext cx="1695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COPIL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2381250" y="8539163"/>
            <a:ext cx="276225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2533650" y="8682038"/>
            <a:ext cx="25403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◆ </a:t>
            </a: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décision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5219700" y="8539163"/>
            <a:ext cx="381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9"/>
          <p:cNvSpPr/>
          <p:nvPr/>
        </p:nvSpPr>
        <p:spPr>
          <a:xfrm>
            <a:off x="5676900" y="8539163"/>
            <a:ext cx="5017889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5829300" y="8682038"/>
            <a:ext cx="48636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◆◆◆◆ </a:t>
            </a: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toutes les 2 sem.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10770989" y="8539163"/>
            <a:ext cx="4659511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"/>
          <p:cNvSpPr/>
          <p:nvPr/>
        </p:nvSpPr>
        <p:spPr>
          <a:xfrm>
            <a:off x="10923389" y="8682038"/>
            <a:ext cx="44944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◆◆ </a:t>
            </a: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mensuel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15506700" y="8539163"/>
            <a:ext cx="20955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9"/>
          <p:cNvSpPr/>
          <p:nvPr/>
        </p:nvSpPr>
        <p:spPr>
          <a:xfrm>
            <a:off x="15659100" y="8682038"/>
            <a:ext cx="1866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C77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◆ </a:t>
            </a:r>
            <a:r>
              <a:rPr b="0" i="0" lang="en-US" sz="18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mensuel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685800" y="9563100"/>
            <a:ext cx="186080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« puis » : taux réduit sur la ou les dernières semaines de la phase · Copil : Alicia, experts métier, Tech Lead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14 — COÛTS DE CONSTRUCTION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914400" y="119062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~150 k€ pour construire, porté à 97 % par l'équipe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914400" y="3653358"/>
            <a:ext cx="46101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108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TOTAL ONE-SHOT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914400" y="4101033"/>
            <a:ext cx="431673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86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7200"/>
              <a:buFont typeface="Archivo"/>
              <a:buNone/>
            </a:pPr>
            <a:r>
              <a:rPr b="1" i="0" lang="en-US" sz="72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147–157 k€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914400" y="6082233"/>
            <a:ext cx="4316730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89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PoC + MVP + stabilisation, scénario favorable → défavorable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5715000" y="3662362"/>
            <a:ext cx="11658600" cy="19050"/>
          </a:xfrm>
          <a:prstGeom prst="rect">
            <a:avLst/>
          </a:prstGeom>
          <a:solidFill>
            <a:srgbClr val="171A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5715000" y="3214688"/>
            <a:ext cx="596489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10866500" y="3214688"/>
            <a:ext cx="298240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JOURS-HOMMES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13496434" y="3214688"/>
            <a:ext cx="387716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COÛT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5715000" y="4429125"/>
            <a:ext cx="116586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5715000" y="3871913"/>
            <a:ext cx="5964890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Équipe — PoC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10866500" y="3871913"/>
            <a:ext cx="2982404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13496434" y="3871913"/>
            <a:ext cx="3877166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1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6 740 €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5715000" y="5186363"/>
            <a:ext cx="116586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5715000" y="4629150"/>
            <a:ext cx="5964890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Équipe — MVP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10866500" y="4629150"/>
            <a:ext cx="2982404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242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13496434" y="4629150"/>
            <a:ext cx="3877166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1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87 975 €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5715000" y="5943600"/>
            <a:ext cx="116586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5715000" y="5386388"/>
            <a:ext cx="5964890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Équipe — stabilisation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10866500" y="5386388"/>
            <a:ext cx="2982404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132,5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13496434" y="5386388"/>
            <a:ext cx="3877166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1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47 950 €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5715000" y="6700838"/>
            <a:ext cx="116586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5715000" y="6143625"/>
            <a:ext cx="5964890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Services Azure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10866500" y="6143625"/>
            <a:ext cx="2982404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13496434" y="6143625"/>
            <a:ext cx="3877166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1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4,3–14,2 k€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5715000" y="6900863"/>
            <a:ext cx="596489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Total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10866500" y="6900863"/>
            <a:ext cx="298240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393,5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13496434" y="6900863"/>
            <a:ext cx="3877166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147–157 k€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914400" y="8648700"/>
            <a:ext cx="16952976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Coût journalier interne : Data Scientist 350 € · Data Engineer 370 € · Tech Lead 400 € · MLOps 360 € · expert métier (2,5 j-h) non valorisé Azure : prix publics sans remise au 25/09/2026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1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15 — COÛTS RÉCURRENTS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914400" y="119062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160 à 227 k€ par an une fois à l'échelle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914400" y="4005262"/>
            <a:ext cx="9001571" cy="19050"/>
          </a:xfrm>
          <a:prstGeom prst="rect">
            <a:avLst/>
          </a:prstGeom>
          <a:solidFill>
            <a:srgbClr val="171A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1"/>
          <p:cNvSpPr/>
          <p:nvPr/>
        </p:nvSpPr>
        <p:spPr>
          <a:xfrm>
            <a:off x="914400" y="3557588"/>
            <a:ext cx="495086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PAR 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5190150" y="3557588"/>
            <a:ext cx="24753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FAVORABLE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7440498" y="3557588"/>
            <a:ext cx="24754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DÉFAVORABLE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914400" y="4772025"/>
            <a:ext cx="9001571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1"/>
          <p:cNvSpPr/>
          <p:nvPr/>
        </p:nvSpPr>
        <p:spPr>
          <a:xfrm>
            <a:off x="914400" y="4214813"/>
            <a:ext cx="4950864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Équipe (exploitation)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5190150" y="4214813"/>
            <a:ext cx="2475391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139,9 k€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7440498" y="4214813"/>
            <a:ext cx="2475473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139,9 k€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914400" y="5529263"/>
            <a:ext cx="9001571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1"/>
          <p:cNvSpPr/>
          <p:nvPr/>
        </p:nvSpPr>
        <p:spPr>
          <a:xfrm>
            <a:off x="914400" y="4972050"/>
            <a:ext cx="4950864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Puissance de calcul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5190150" y="4972050"/>
            <a:ext cx="2475391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12,6 k€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7440498" y="4972050"/>
            <a:ext cx="2475473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64E00"/>
              </a:buClr>
              <a:buSzPts val="2250"/>
              <a:buFont typeface="IBM Plex Sans"/>
              <a:buNone/>
            </a:pPr>
            <a:r>
              <a:rPr b="1" i="0" lang="en-US" sz="2250" u="none" cap="none" strike="noStrike">
                <a:solidFill>
                  <a:srgbClr val="964E00"/>
                </a:solidFill>
                <a:latin typeface="IBM Plex Sans"/>
                <a:ea typeface="IBM Plex Sans"/>
                <a:cs typeface="IBM Plex Sans"/>
                <a:sym typeface="IBM Plex Sans"/>
              </a:rPr>
              <a:t>65,4 k€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914400" y="6286500"/>
            <a:ext cx="9001571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1"/>
          <p:cNvSpPr/>
          <p:nvPr/>
        </p:nvSpPr>
        <p:spPr>
          <a:xfrm>
            <a:off x="914400" y="5729288"/>
            <a:ext cx="4950864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Stockage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5190150" y="5729288"/>
            <a:ext cx="2475391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0,8 k€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7440498" y="5729288"/>
            <a:ext cx="2475473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2,8 k€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914400" y="7043738"/>
            <a:ext cx="9001571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1"/>
          <p:cNvSpPr/>
          <p:nvPr/>
        </p:nvSpPr>
        <p:spPr>
          <a:xfrm>
            <a:off x="914400" y="6486525"/>
            <a:ext cx="4950864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Autres services Azure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5190150" y="6486525"/>
            <a:ext cx="2475391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6,1 k€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7440498" y="6486525"/>
            <a:ext cx="2475473" cy="4048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19,0 k€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914400" y="7243763"/>
            <a:ext cx="495086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Total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5190150" y="7243763"/>
            <a:ext cx="2475391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159,4 k€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7440498" y="7243763"/>
            <a:ext cx="247547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227,1 k€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10449371" y="3459956"/>
            <a:ext cx="6924229" cy="2200275"/>
          </a:xfrm>
          <a:prstGeom prst="roundRect">
            <a:avLst>
              <a:gd fmla="val 5195" name="adj"/>
            </a:avLst>
          </a:pr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1"/>
          <p:cNvSpPr/>
          <p:nvPr/>
        </p:nvSpPr>
        <p:spPr>
          <a:xfrm>
            <a:off x="10792271" y="3764756"/>
            <a:ext cx="686227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108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PRINCIPALE INCERTITUDE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10792271" y="4155281"/>
            <a:ext cx="642558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091"/>
              </a:lnSpc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F5F4F1"/>
                </a:solidFill>
                <a:latin typeface="IBM Plex Sans"/>
                <a:ea typeface="IBM Plex Sans"/>
                <a:cs typeface="IBM Plex Sans"/>
                <a:sym typeface="IBM Plex Sans"/>
              </a:rPr>
              <a:t>Le calcul de l'essayage virtuel : de 3,6 à 47,4 k€/an selon l'usage réel. Il sera mesuré pendant le pilote.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10449371" y="5888831"/>
            <a:ext cx="6924229" cy="1819275"/>
          </a:xfrm>
          <a:prstGeom prst="roundRect">
            <a:avLst>
              <a:gd fmla="val 6283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1"/>
          <p:cNvSpPr/>
          <p:nvPr/>
        </p:nvSpPr>
        <p:spPr>
          <a:xfrm>
            <a:off x="10801796" y="6203156"/>
            <a:ext cx="68413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108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PREMIER POSTE ÉQUIPE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10801796" y="6593681"/>
            <a:ext cx="640596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091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250"/>
              <a:buFont typeface="IBM Plex Sans"/>
              <a:buNone/>
            </a:pPr>
            <a:r>
              <a:rPr b="0" i="0" lang="en-US" sz="22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mise en production et la surveillance des modèles (MLOps) : 47,5 k€/an.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914400" y="9334500"/>
            <a:ext cx="181051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Hypothèse : 400k utilisateurs/an, dont 50k réguliers · ordre de grandeur, pas un devis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2"/>
          <p:cNvSpPr/>
          <p:nvPr/>
        </p:nvSpPr>
        <p:spPr>
          <a:xfrm>
            <a:off x="914400" y="6858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16 — RENTABILITÉ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2"/>
          <p:cNvSpPr/>
          <p:nvPr/>
        </p:nvSpPr>
        <p:spPr>
          <a:xfrm>
            <a:off x="914400" y="1133475"/>
            <a:ext cx="1810512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650"/>
              <a:buFont typeface="Archivo"/>
              <a:buNone/>
            </a:pPr>
            <a:r>
              <a:rPr b="1" i="0" lang="en-US" sz="465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Équilibre atteint entre 28 et 41 mois après le lancement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9" name="Google Shape;5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43113"/>
            <a:ext cx="9800481" cy="7005638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2"/>
          <p:cNvSpPr/>
          <p:nvPr/>
        </p:nvSpPr>
        <p:spPr>
          <a:xfrm>
            <a:off x="914400" y="9429750"/>
            <a:ext cx="290885" cy="57150"/>
          </a:xfrm>
          <a:prstGeom prst="rect">
            <a:avLst/>
          </a:prstGeom>
          <a:solidFill>
            <a:srgbClr val="C77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2"/>
          <p:cNvSpPr/>
          <p:nvPr/>
        </p:nvSpPr>
        <p:spPr>
          <a:xfrm>
            <a:off x="1300535" y="9163050"/>
            <a:ext cx="103636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Marge cumulée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3306812" y="9434513"/>
            <a:ext cx="290959" cy="47625"/>
          </a:xfrm>
          <a:prstGeom prst="rect">
            <a:avLst/>
          </a:prstGeom>
          <a:solidFill>
            <a:srgbClr val="171A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/>
          <p:cNvSpPr/>
          <p:nvPr/>
        </p:nvSpPr>
        <p:spPr>
          <a:xfrm>
            <a:off x="3693021" y="9163050"/>
            <a:ext cx="158502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Coûts (favorable)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6223918" y="9434513"/>
            <a:ext cx="291033" cy="47625"/>
          </a:xfrm>
          <a:prstGeom prst="rect">
            <a:avLst/>
          </a:prstGeom>
          <a:solidFill>
            <a:srgbClr val="9A9D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2"/>
          <p:cNvSpPr/>
          <p:nvPr/>
        </p:nvSpPr>
        <p:spPr>
          <a:xfrm>
            <a:off x="6610201" y="9163050"/>
            <a:ext cx="185931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Coûts (défavorable)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2"/>
          <p:cNvSpPr/>
          <p:nvPr/>
        </p:nvSpPr>
        <p:spPr>
          <a:xfrm>
            <a:off x="9403259" y="9163050"/>
            <a:ext cx="138782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k€ cumulés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11248281" y="3642866"/>
            <a:ext cx="6737851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+936 k€/an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11248281" y="4362004"/>
            <a:ext cx="6309079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CA additionnel à M24 (marketing : +14 % web, +4 % magasin)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11248281" y="5283994"/>
            <a:ext cx="6737851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+360 k€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2"/>
          <p:cNvSpPr/>
          <p:nvPr/>
        </p:nvSpPr>
        <p:spPr>
          <a:xfrm>
            <a:off x="11248281" y="6003131"/>
            <a:ext cx="6309079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solde cumulé à M48 en scénario favorable (+89 k€ en défavorable)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11248281" y="6925121"/>
            <a:ext cx="6125319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2"/>
          <p:cNvSpPr/>
          <p:nvPr/>
        </p:nvSpPr>
        <p:spPr>
          <a:xfrm>
            <a:off x="11248281" y="7125146"/>
            <a:ext cx="630907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Hypothèses : marge contributive de 40 % à confirmer par la Finance · montée linéaire des ventes jusqu'à M24 · gain de l'application entière, sans clé de répartition Data &amp;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224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3"/>
          <p:cNvSpPr/>
          <p:nvPr/>
        </p:nvSpPr>
        <p:spPr>
          <a:xfrm>
            <a:off x="914400" y="3445669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3"/>
          <p:cNvSpPr/>
          <p:nvPr/>
        </p:nvSpPr>
        <p:spPr>
          <a:xfrm>
            <a:off x="914400" y="4045744"/>
            <a:ext cx="16952976" cy="2200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7800"/>
              <a:buFont typeface="Archivo"/>
              <a:buNone/>
            </a:pPr>
            <a:r>
              <a:rPr b="1" i="0" lang="en-US" sz="78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Protection des données personnelles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3"/>
          <p:cNvSpPr/>
          <p:nvPr/>
        </p:nvSpPr>
        <p:spPr>
          <a:xfrm>
            <a:off x="914400" y="6512719"/>
            <a:ext cx="14668500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3150"/>
              <a:buFont typeface="IBM Plex Sans"/>
              <a:buNone/>
            </a:pPr>
            <a:r>
              <a:rPr b="0" i="0" lang="en-US" sz="315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Les principes du RGPD appliqués au projet, et les protections prévues.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"/>
          <p:cNvSpPr/>
          <p:nvPr/>
        </p:nvSpPr>
        <p:spPr>
          <a:xfrm>
            <a:off x="762000" y="609600"/>
            <a:ext cx="1844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17 — PRINCIPES &amp; RISQUES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762000" y="1019175"/>
            <a:ext cx="1844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3900"/>
              <a:buFont typeface="Archivo"/>
              <a:buNone/>
            </a:pPr>
            <a:r>
              <a:rPr b="1" i="0" lang="en-US" sz="39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Les principes du RGPD, traduits en risques du projet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762000" y="3301901"/>
            <a:ext cx="4572000" cy="19050"/>
          </a:xfrm>
          <a:prstGeom prst="rect">
            <a:avLst/>
          </a:prstGeom>
          <a:solidFill>
            <a:srgbClr val="171A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762000" y="2879006"/>
            <a:ext cx="4709160" cy="3466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PRINCIPE (ART. 5)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5334000" y="3301901"/>
            <a:ext cx="12192000" cy="19050"/>
          </a:xfrm>
          <a:prstGeom prst="rect">
            <a:avLst/>
          </a:prstGeom>
          <a:solidFill>
            <a:srgbClr val="171A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5334000" y="2879006"/>
            <a:ext cx="12557760" cy="3466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516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RISQUE DANS LE PROJET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762000" y="3985766"/>
            <a:ext cx="457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4"/>
          <p:cNvSpPr/>
          <p:nvPr/>
        </p:nvSpPr>
        <p:spPr>
          <a:xfrm>
            <a:off x="762000" y="3473351"/>
            <a:ext cx="44805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Licéité, transparence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5334000" y="3985766"/>
            <a:ext cx="1219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4"/>
          <p:cNvSpPr/>
          <p:nvPr/>
        </p:nvSpPr>
        <p:spPr>
          <a:xfrm>
            <a:off x="5334000" y="3473351"/>
            <a:ext cx="125577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Contenus de blogs ou d'influenceurs ingérés sans droit d'usage tracé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4"/>
          <p:cNvSpPr/>
          <p:nvPr/>
        </p:nvSpPr>
        <p:spPr>
          <a:xfrm>
            <a:off x="762000" y="4660106"/>
            <a:ext cx="457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4"/>
          <p:cNvSpPr/>
          <p:nvPr/>
        </p:nvSpPr>
        <p:spPr>
          <a:xfrm>
            <a:off x="762000" y="4147691"/>
            <a:ext cx="44805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Limitation des finalités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5334000" y="4660106"/>
            <a:ext cx="1219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4"/>
          <p:cNvSpPr/>
          <p:nvPr/>
        </p:nvSpPr>
        <p:spPr>
          <a:xfrm>
            <a:off x="5334000" y="4147691"/>
            <a:ext cx="125577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Photos réutilisées pour entraîner un modèle tiers (LLM) : </a:t>
            </a: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exigence du DPO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762000" y="5334446"/>
            <a:ext cx="457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4"/>
          <p:cNvSpPr/>
          <p:nvPr/>
        </p:nvSpPr>
        <p:spPr>
          <a:xfrm>
            <a:off x="762000" y="4822031"/>
            <a:ext cx="44805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Minimisation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4"/>
          <p:cNvSpPr/>
          <p:nvPr/>
        </p:nvSpPr>
        <p:spPr>
          <a:xfrm>
            <a:off x="5334000" y="5334446"/>
            <a:ext cx="1219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5334000" y="4822031"/>
            <a:ext cx="125577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Une photo capture visage, tiers ou intérieur, inutiles à la recommandation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4"/>
          <p:cNvSpPr/>
          <p:nvPr/>
        </p:nvSpPr>
        <p:spPr>
          <a:xfrm>
            <a:off x="762000" y="6008787"/>
            <a:ext cx="457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4"/>
          <p:cNvSpPr/>
          <p:nvPr/>
        </p:nvSpPr>
        <p:spPr>
          <a:xfrm>
            <a:off x="762000" y="5496371"/>
            <a:ext cx="44805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Exactitude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4"/>
          <p:cNvSpPr/>
          <p:nvPr/>
        </p:nvSpPr>
        <p:spPr>
          <a:xfrm>
            <a:off x="5334000" y="6008787"/>
            <a:ext cx="1219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4"/>
          <p:cNvSpPr/>
          <p:nvPr/>
        </p:nvSpPr>
        <p:spPr>
          <a:xfrm>
            <a:off x="5334000" y="5496371"/>
            <a:ext cx="125577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Préférences obsolètes, rectification uniquement manuelle au pilote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4"/>
          <p:cNvSpPr/>
          <p:nvPr/>
        </p:nvSpPr>
        <p:spPr>
          <a:xfrm>
            <a:off x="762000" y="6683127"/>
            <a:ext cx="457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4"/>
          <p:cNvSpPr/>
          <p:nvPr/>
        </p:nvSpPr>
        <p:spPr>
          <a:xfrm>
            <a:off x="762000" y="6170712"/>
            <a:ext cx="44805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Limitation de la conservation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5334000" y="6683127"/>
            <a:ext cx="1219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4"/>
          <p:cNvSpPr/>
          <p:nvPr/>
        </p:nvSpPr>
        <p:spPr>
          <a:xfrm>
            <a:off x="5334000" y="6170712"/>
            <a:ext cx="125577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Durées de rétention des photos, rendus et logs non encore validées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762000" y="7357467"/>
            <a:ext cx="457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4"/>
          <p:cNvSpPr/>
          <p:nvPr/>
        </p:nvSpPr>
        <p:spPr>
          <a:xfrm>
            <a:off x="762000" y="6845052"/>
            <a:ext cx="44805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Intégrité, confidentialité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5334000" y="7357467"/>
            <a:ext cx="12192000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4"/>
          <p:cNvSpPr/>
          <p:nvPr/>
        </p:nvSpPr>
        <p:spPr>
          <a:xfrm>
            <a:off x="5334000" y="6845052"/>
            <a:ext cx="125577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Fuite de photos personnelles en cas d'accès trop large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4"/>
          <p:cNvSpPr/>
          <p:nvPr/>
        </p:nvSpPr>
        <p:spPr>
          <a:xfrm>
            <a:off x="762000" y="7519392"/>
            <a:ext cx="44805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Responsabilité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4"/>
          <p:cNvSpPr/>
          <p:nvPr/>
        </p:nvSpPr>
        <p:spPr>
          <a:xfrm>
            <a:off x="5334000" y="7519392"/>
            <a:ext cx="1255776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Pas encore d'analyse d'impact (AIPD) ni de registre, alors que le profilage par image le justifie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4"/>
          <p:cNvSpPr/>
          <p:nvPr/>
        </p:nvSpPr>
        <p:spPr>
          <a:xfrm>
            <a:off x="762000" y="9239250"/>
            <a:ext cx="1726692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Droits des personnes : traitement manuel intenable à 400k utilisateurs (réponse sous 1 mois) · AI Act art. 50 : rendus try-on à signaler comme générés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1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5"/>
          <p:cNvSpPr/>
          <p:nvPr/>
        </p:nvSpPr>
        <p:spPr>
          <a:xfrm>
            <a:off x="762000" y="609600"/>
            <a:ext cx="1844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5BA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2A75BA"/>
                </a:solidFill>
                <a:latin typeface="IBM Plex Mono"/>
                <a:ea typeface="IBM Plex Mono"/>
                <a:cs typeface="IBM Plex Mono"/>
                <a:sym typeface="IBM Plex Mono"/>
              </a:rPr>
              <a:t>18 — MESURES DE PROTECTION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5"/>
          <p:cNvSpPr/>
          <p:nvPr/>
        </p:nvSpPr>
        <p:spPr>
          <a:xfrm>
            <a:off x="762000" y="1019175"/>
            <a:ext cx="1844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3900"/>
              <a:buFont typeface="Archivo"/>
              <a:buNone/>
            </a:pPr>
            <a:r>
              <a:rPr b="1" i="0" lang="en-US" sz="3900" u="none" cap="none" strike="noStrike">
                <a:solidFill>
                  <a:srgbClr val="171A17"/>
                </a:solidFill>
                <a:latin typeface="Archivo"/>
                <a:ea typeface="Archivo"/>
                <a:cs typeface="Archivo"/>
                <a:sym typeface="Archivo"/>
              </a:rPr>
              <a:t>Des protections placées dans l'architecture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5"/>
          <p:cNvSpPr/>
          <p:nvPr/>
        </p:nvSpPr>
        <p:spPr>
          <a:xfrm>
            <a:off x="762000" y="1824038"/>
            <a:ext cx="943973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800"/>
              <a:buFont typeface="IBM Plex Mono"/>
              <a:buNone/>
            </a:pPr>
            <a:r>
              <a:rPr b="0" i="0" lang="en-US" spc="108" sz="1800" u="none" cap="none" strike="noStrike">
                <a:solidFill>
                  <a:srgbClr val="5F5D56"/>
                </a:solidFill>
                <a:latin typeface="IBM Plex Mono"/>
                <a:ea typeface="IBM Plex Mono"/>
                <a:cs typeface="IBM Plex Mono"/>
                <a:sym typeface="IBM Plex Mono"/>
              </a:rPr>
              <a:t>ANONYMISATION — 3 POINTS DE L'ARCHITECTURE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5"/>
          <p:cNvSpPr/>
          <p:nvPr/>
        </p:nvSpPr>
        <p:spPr>
          <a:xfrm>
            <a:off x="762000" y="2290763"/>
            <a:ext cx="8581579" cy="1569690"/>
          </a:xfrm>
          <a:prstGeom prst="roundRect">
            <a:avLst>
              <a:gd fmla="val 7282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5"/>
          <p:cNvSpPr/>
          <p:nvPr/>
        </p:nvSpPr>
        <p:spPr>
          <a:xfrm>
            <a:off x="1038225" y="2528888"/>
            <a:ext cx="303237" cy="1131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954"/>
              </a:lnSpc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3000"/>
              <a:buFont typeface="Archivo"/>
              <a:buNone/>
            </a:pPr>
            <a:r>
              <a:rPr b="1" i="0" lang="en-US" sz="3000" u="none" cap="none" strike="noStrike">
                <a:solidFill>
                  <a:srgbClr val="C77B2D"/>
                </a:solidFill>
                <a:latin typeface="Archivo"/>
                <a:ea typeface="Archivo"/>
                <a:cs typeface="Archivo"/>
                <a:sym typeface="Archivo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5"/>
          <p:cNvSpPr/>
          <p:nvPr/>
        </p:nvSpPr>
        <p:spPr>
          <a:xfrm>
            <a:off x="1455762" y="2528888"/>
            <a:ext cx="837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Avant tout stockage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5"/>
          <p:cNvSpPr/>
          <p:nvPr/>
        </p:nvSpPr>
        <p:spPr>
          <a:xfrm>
            <a:off x="1455762" y="2928938"/>
            <a:ext cx="7839939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Floutage visages et tiers, suppression du fond. La photo brute n'est jamais stockée.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5"/>
          <p:cNvSpPr/>
          <p:nvPr/>
        </p:nvSpPr>
        <p:spPr>
          <a:xfrm>
            <a:off x="762000" y="4031903"/>
            <a:ext cx="8581579" cy="1569690"/>
          </a:xfrm>
          <a:prstGeom prst="roundRect">
            <a:avLst>
              <a:gd fmla="val 7282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5"/>
          <p:cNvSpPr/>
          <p:nvPr/>
        </p:nvSpPr>
        <p:spPr>
          <a:xfrm>
            <a:off x="1038225" y="4270028"/>
            <a:ext cx="303237" cy="1131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954"/>
              </a:lnSpc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3000"/>
              <a:buFont typeface="Archivo"/>
              <a:buNone/>
            </a:pPr>
            <a:r>
              <a:rPr b="1" i="0" lang="en-US" sz="3000" u="none" cap="none" strike="noStrike">
                <a:solidFill>
                  <a:srgbClr val="C77B2D"/>
                </a:solidFill>
                <a:latin typeface="Archivo"/>
                <a:ea typeface="Archivo"/>
                <a:cs typeface="Archivo"/>
                <a:sym typeface="Archivo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5"/>
          <p:cNvSpPr/>
          <p:nvPr/>
        </p:nvSpPr>
        <p:spPr>
          <a:xfrm>
            <a:off x="1455762" y="4270028"/>
            <a:ext cx="837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 l'identité et les modèles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5"/>
          <p:cNvSpPr/>
          <p:nvPr/>
        </p:nvSpPr>
        <p:spPr>
          <a:xfrm>
            <a:off x="1455762" y="4670078"/>
            <a:ext cx="7839939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Les modèles ne voient qu'un identifiant anonyme ; le lien avec la personne est isolé et à accès restreint.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5"/>
          <p:cNvSpPr/>
          <p:nvPr/>
        </p:nvSpPr>
        <p:spPr>
          <a:xfrm>
            <a:off x="762000" y="5773043"/>
            <a:ext cx="8581579" cy="1569690"/>
          </a:xfrm>
          <a:prstGeom prst="roundRect">
            <a:avLst>
              <a:gd fmla="val 7282" name="adj"/>
            </a:avLst>
          </a:prstGeom>
          <a:solidFill>
            <a:srgbClr val="FFFFFF"/>
          </a:solidFill>
          <a:ln cap="flat" cmpd="sng" w="9525">
            <a:solidFill>
              <a:srgbClr val="DCD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5"/>
          <p:cNvSpPr/>
          <p:nvPr/>
        </p:nvSpPr>
        <p:spPr>
          <a:xfrm>
            <a:off x="1038225" y="6011168"/>
            <a:ext cx="303237" cy="11315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954"/>
              </a:lnSpc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3000"/>
              <a:buFont typeface="Archivo"/>
              <a:buNone/>
            </a:pPr>
            <a:r>
              <a:rPr b="1" i="0" lang="en-US" sz="3000" u="none" cap="none" strike="noStrike">
                <a:solidFill>
                  <a:srgbClr val="C77B2D"/>
                </a:solidFill>
                <a:latin typeface="Archivo"/>
                <a:ea typeface="Archivo"/>
                <a:cs typeface="Archivo"/>
                <a:sym typeface="Archivo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5"/>
          <p:cNvSpPr/>
          <p:nvPr/>
        </p:nvSpPr>
        <p:spPr>
          <a:xfrm>
            <a:off x="1455762" y="6011168"/>
            <a:ext cx="837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2100"/>
              <a:buFont typeface="IBM Plex Sans"/>
              <a:buNone/>
            </a:pPr>
            <a:r>
              <a:rPr b="1" i="0" lang="en-US" sz="210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Dans les tendances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/>
          <p:nvPr/>
        </p:nvSpPr>
        <p:spPr>
          <a:xfrm>
            <a:off x="1455762" y="6411218"/>
            <a:ext cx="7839939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657"/>
              </a:lnSpc>
              <a:spcBef>
                <a:spcPts val="0"/>
              </a:spcBef>
              <a:spcAft>
                <a:spcPts val="0"/>
              </a:spcAft>
              <a:buClr>
                <a:srgbClr val="5F5D56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5F5D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Seul le score par style/marque est conservé, pas les textes des auteurs.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/>
          <p:nvPr/>
        </p:nvSpPr>
        <p:spPr>
          <a:xfrm>
            <a:off x="9724579" y="1824038"/>
            <a:ext cx="7801421" cy="2043931"/>
          </a:xfrm>
          <a:prstGeom prst="roundRect">
            <a:avLst>
              <a:gd fmla="val 5592" name="adj"/>
            </a:avLst>
          </a:prstGeom>
          <a:solidFill>
            <a:srgbClr val="1D22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5"/>
          <p:cNvSpPr/>
          <p:nvPr/>
        </p:nvSpPr>
        <p:spPr>
          <a:xfrm>
            <a:off x="10029379" y="2090738"/>
            <a:ext cx="791100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108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GARANTIE DPO — PAS D'ENTRAÎNEMENT 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5"/>
          <p:cNvSpPr/>
          <p:nvPr/>
        </p:nvSpPr>
        <p:spPr>
          <a:xfrm>
            <a:off x="10029379" y="2481263"/>
            <a:ext cx="7407576" cy="1158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89"/>
              </a:lnSpc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F5F4F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Aucun service d'IA grand public : uniquement des services Azure sous contrat, clauses de non-entraînement validées par le DPO avant la mise en production.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/>
          <p:nvPr/>
        </p:nvSpPr>
        <p:spPr>
          <a:xfrm>
            <a:off x="9724579" y="4640387"/>
            <a:ext cx="7801421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5"/>
          <p:cNvSpPr/>
          <p:nvPr/>
        </p:nvSpPr>
        <p:spPr>
          <a:xfrm>
            <a:off x="9724579" y="4172769"/>
            <a:ext cx="8035464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Rétention </a:t>
            </a: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 type de donnée, suppression automatique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5"/>
          <p:cNvSpPr/>
          <p:nvPr/>
        </p:nvSpPr>
        <p:spPr>
          <a:xfrm>
            <a:off x="9724579" y="5250879"/>
            <a:ext cx="7801421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5"/>
          <p:cNvSpPr/>
          <p:nvPr/>
        </p:nvSpPr>
        <p:spPr>
          <a:xfrm>
            <a:off x="9724579" y="4783262"/>
            <a:ext cx="8035464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Sécurité </a:t>
            </a: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: chiffrement, accès restreints, réseau privé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5"/>
          <p:cNvSpPr/>
          <p:nvPr/>
        </p:nvSpPr>
        <p:spPr>
          <a:xfrm>
            <a:off x="9724579" y="5861372"/>
            <a:ext cx="7801421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5"/>
          <p:cNvSpPr/>
          <p:nvPr/>
        </p:nvSpPr>
        <p:spPr>
          <a:xfrm>
            <a:off x="9724579" y="5393754"/>
            <a:ext cx="8035464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Droits </a:t>
            </a: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: manuels au pilote, libre-service en Run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5"/>
          <p:cNvSpPr/>
          <p:nvPr/>
        </p:nvSpPr>
        <p:spPr>
          <a:xfrm>
            <a:off x="9724579" y="6471865"/>
            <a:ext cx="7801421" cy="9525"/>
          </a:xfrm>
          <a:prstGeom prst="rect">
            <a:avLst/>
          </a:prstGeom>
          <a:solidFill>
            <a:srgbClr val="DCD9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5"/>
          <p:cNvSpPr/>
          <p:nvPr/>
        </p:nvSpPr>
        <p:spPr>
          <a:xfrm>
            <a:off x="9724579" y="6004247"/>
            <a:ext cx="8035464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Analyse d'impact (AIPD) </a:t>
            </a: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et registre avant le pilote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5"/>
          <p:cNvSpPr/>
          <p:nvPr/>
        </p:nvSpPr>
        <p:spPr>
          <a:xfrm>
            <a:off x="9724579" y="6614740"/>
            <a:ext cx="8035464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776"/>
              </a:lnSpc>
              <a:spcBef>
                <a:spcPts val="0"/>
              </a:spcBef>
              <a:spcAft>
                <a:spcPts val="0"/>
              </a:spcAft>
              <a:buClr>
                <a:srgbClr val="171A17"/>
              </a:buClr>
              <a:buSzPts val="1950"/>
              <a:buFont typeface="IBM Plex Sans"/>
              <a:buNone/>
            </a:pPr>
            <a:r>
              <a:rPr b="1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Marquage IA </a:t>
            </a:r>
            <a:r>
              <a:rPr b="0" i="0" lang="en-US" sz="1950" u="none" cap="none" strike="noStrike">
                <a:solidFill>
                  <a:srgbClr val="17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 images d'essayage + mention dans l'app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224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6"/>
          <p:cNvSpPr/>
          <p:nvPr/>
        </p:nvSpPr>
        <p:spPr>
          <a:xfrm>
            <a:off x="914400" y="952500"/>
            <a:ext cx="18105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252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19 — DÉCISION ATTENDUE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914400" y="3032299"/>
            <a:ext cx="15697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149"/>
              </a:lnSpc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6000"/>
              <a:buFont typeface="Archivo"/>
              <a:buNone/>
            </a:pPr>
            <a:r>
              <a:rPr b="1" i="0" lang="en-US" sz="600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Valider le PoC aujourd'hui, décider du MVP sur preuve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914400" y="4975399"/>
            <a:ext cx="15697200" cy="9981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234"/>
              </a:lnSpc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2700"/>
              <a:buFont typeface="IBM Plex Sans"/>
              <a:buNone/>
            </a:pPr>
            <a:r>
              <a:rPr b="0" i="0" lang="en-US" sz="270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L'engagement immédiat se limite au PoC. Le MVP n'est lancé que si le critère NDCG@5 ≥ 0,7 est atteint.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6"/>
          <p:cNvSpPr/>
          <p:nvPr/>
        </p:nvSpPr>
        <p:spPr>
          <a:xfrm>
            <a:off x="914400" y="7720013"/>
            <a:ext cx="4914900" cy="1804988"/>
          </a:xfrm>
          <a:prstGeom prst="roundRect">
            <a:avLst>
              <a:gd fmla="val 6332" name="adj"/>
            </a:avLst>
          </a:prstGeom>
          <a:noFill/>
          <a:ln cap="flat" cmpd="sng" w="19050">
            <a:solidFill>
              <a:srgbClr val="C77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6"/>
          <p:cNvSpPr/>
          <p:nvPr/>
        </p:nvSpPr>
        <p:spPr>
          <a:xfrm>
            <a:off x="1238250" y="8043863"/>
            <a:ext cx="46939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B2D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C77B2D"/>
                </a:solidFill>
                <a:latin typeface="IBM Plex Mono"/>
                <a:ea typeface="IBM Plex Mono"/>
                <a:cs typeface="IBM Plex Mono"/>
                <a:sym typeface="IBM Plex Mono"/>
              </a:rPr>
              <a:t>AUJOURD'HUI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6"/>
          <p:cNvSpPr/>
          <p:nvPr/>
        </p:nvSpPr>
        <p:spPr>
          <a:xfrm>
            <a:off x="1238250" y="8434388"/>
            <a:ext cx="469392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PoC · 4 semaines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1238250" y="8882063"/>
            <a:ext cx="469392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21,5 j-h · 6,7 k€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6"/>
          <p:cNvSpPr/>
          <p:nvPr/>
        </p:nvSpPr>
        <p:spPr>
          <a:xfrm>
            <a:off x="6057900" y="7720013"/>
            <a:ext cx="495300" cy="184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3300"/>
              <a:buFont typeface="Archivo"/>
              <a:buNone/>
            </a:pPr>
            <a:r>
              <a:rPr b="0" i="0" lang="en-US" sz="3300" u="none" cap="none" strike="noStrike">
                <a:solidFill>
                  <a:srgbClr val="7D8280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6705600" y="7720013"/>
            <a:ext cx="4895850" cy="1804988"/>
          </a:xfrm>
          <a:prstGeom prst="roundRect">
            <a:avLst>
              <a:gd fmla="val 6332" name="adj"/>
            </a:avLst>
          </a:prstGeom>
          <a:noFill/>
          <a:ln cap="flat" cmpd="sng" w="9525">
            <a:solidFill>
              <a:srgbClr val="3A3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6"/>
          <p:cNvSpPr/>
          <p:nvPr/>
        </p:nvSpPr>
        <p:spPr>
          <a:xfrm>
            <a:off x="7019925" y="8034338"/>
            <a:ext cx="46939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 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6"/>
          <p:cNvSpPr/>
          <p:nvPr/>
        </p:nvSpPr>
        <p:spPr>
          <a:xfrm>
            <a:off x="7019925" y="8424863"/>
            <a:ext cx="469392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MVP + stabilisation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7019925" y="8872538"/>
            <a:ext cx="469392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16 sem. · 140–150 k€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11830050" y="7720013"/>
            <a:ext cx="495300" cy="184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3300"/>
              <a:buFont typeface="Archivo"/>
              <a:buNone/>
            </a:pPr>
            <a:r>
              <a:rPr b="0" i="0" lang="en-US" sz="3300" u="none" cap="none" strike="noStrike">
                <a:solidFill>
                  <a:srgbClr val="7D8280"/>
                </a:solidFill>
                <a:latin typeface="Archivo"/>
                <a:ea typeface="Archivo"/>
                <a:cs typeface="Archivo"/>
                <a:sym typeface="Archivo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6"/>
          <p:cNvSpPr/>
          <p:nvPr/>
        </p:nvSpPr>
        <p:spPr>
          <a:xfrm>
            <a:off x="12477750" y="7720013"/>
            <a:ext cx="4895850" cy="1804988"/>
          </a:xfrm>
          <a:prstGeom prst="roundRect">
            <a:avLst>
              <a:gd fmla="val 6332" name="adj"/>
            </a:avLst>
          </a:prstGeom>
          <a:noFill/>
          <a:ln cap="flat" cmpd="sng" w="9525">
            <a:solidFill>
              <a:srgbClr val="3A3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6"/>
          <p:cNvSpPr/>
          <p:nvPr/>
        </p:nvSpPr>
        <p:spPr>
          <a:xfrm>
            <a:off x="12792075" y="8034338"/>
            <a:ext cx="46939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280"/>
              </a:buClr>
              <a:buSzPts val="1800"/>
              <a:buFont typeface="IBM Plex Mono"/>
              <a:buNone/>
            </a:pPr>
            <a:r>
              <a:rPr b="0" i="0" lang="en-US" spc="144" sz="1800" u="none" cap="none" strike="noStrike">
                <a:solidFill>
                  <a:srgbClr val="7D8280"/>
                </a:solidFill>
                <a:latin typeface="IBM Plex Mono"/>
                <a:ea typeface="IBM Plex Mono"/>
                <a:cs typeface="IBM Plex Mono"/>
                <a:sym typeface="IBM Plex Mono"/>
              </a:rPr>
              <a:t>CROISIÈRE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12792075" y="8424863"/>
            <a:ext cx="469392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1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F5F4F1"/>
                </a:solidFill>
                <a:latin typeface="Archivo"/>
                <a:ea typeface="Archivo"/>
                <a:cs typeface="Archivo"/>
                <a:sym typeface="Archivo"/>
              </a:rPr>
              <a:t>160–227 k€/an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/>
          <p:nvPr/>
        </p:nvSpPr>
        <p:spPr>
          <a:xfrm>
            <a:off x="12792075" y="8872538"/>
            <a:ext cx="469392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8"/>
              </a:buClr>
              <a:buSzPts val="1950"/>
              <a:buFont typeface="IBM Plex Sans"/>
              <a:buNone/>
            </a:pPr>
            <a:r>
              <a:rPr b="0" i="0" lang="en-US" sz="1950" u="none" cap="none" strike="noStrike">
                <a:solidFill>
                  <a:srgbClr val="B9BCB8"/>
                </a:solidFill>
                <a:latin typeface="IBM Plex Sans"/>
                <a:ea typeface="IBM Plex Sans"/>
                <a:cs typeface="IBM Plex Sans"/>
                <a:sym typeface="IBM Plex Sans"/>
              </a:rPr>
              <a:t>équilibre à M28–M41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